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4" r:id="rId3"/>
    <p:sldId id="258" r:id="rId4"/>
    <p:sldId id="261" r:id="rId5"/>
    <p:sldId id="269" r:id="rId17"/>
    <p:sldId id="270" r:id="rId18"/>
    <p:sldId id="265" r:id="rId6"/>
    <p:sldId id="259" r:id="rId7"/>
    <p:sldId id="267" r:id="rId8"/>
    <p:sldId id="266" r:id="rId9"/>
    <p:sldId id="260"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D38BEF-14C5-4FC6-B3C9-1927E23E845F}" v="153" dt="2026-09-21T03:06:47.336"/>
    <p1510:client id="{C3694701-2060-4480-B413-E678170CCA1F}" v="539" dt="2026-09-19T09:25:57.1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  <Relationship Id="rId17" Type="http://schemas.openxmlformats.org/officeDocument/2006/relationships/slide" Target="slides/slide11.xml"/>
  <Relationship Id="rId18" Type="http://schemas.openxmlformats.org/officeDocument/2006/relationships/slide" Target="slides/slide12.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s1_donut.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s2_0.png"/><Relationship Id="rId3" Type="http://schemas.openxmlformats.org/officeDocument/2006/relationships/image" Target="../media/s2_1.png"/><Relationship Id="rId4" Type="http://schemas.openxmlformats.org/officeDocument/2006/relationships/image" Target="../media/s2_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5938" y="1111775"/>
            <a:ext cx="9144000" cy="2316702"/>
          </a:xfrm>
        </p:spPr>
        <p:txBody>
          <a:bodyPr lIns="91440" tIns="45720" rIns="91440" bIns="45720" anchor="b"/>
          <a:lstStyle/>
          <a:p>
            <a:r>
              <a:rPr lang="en-US" sz="4000" b="1" dirty="0">
                <a:solidFill>
                  <a:srgbClr val="C00000"/>
                </a:solidFill>
                <a:latin typeface="+mn-lt"/>
              </a:rPr>
              <a:t>Machine Learning</a:t>
            </a:r>
            <a:br>
              <a:rPr lang="en-US" sz="4000" b="1" dirty="0">
                <a:latin typeface="+mn-lt"/>
              </a:rPr>
            </a:br>
            <a:r>
              <a:rPr lang="en-US" sz="4000" b="1" dirty="0">
                <a:solidFill>
                  <a:srgbClr val="C00000"/>
                </a:solidFill>
                <a:latin typeface="+mn-lt"/>
              </a:rPr>
              <a:t>(</a:t>
            </a:r>
            <a:r>
              <a:rPr lang="en-US" sz="4000" b="1" dirty="0">
                <a:solidFill>
                  <a:srgbClr val="C00000"/>
                </a:solidFill>
                <a:latin typeface="Calibri"/>
                <a:ea typeface="Calibri"/>
                <a:cs typeface="Calibri"/>
              </a:rPr>
              <a:t>25SC2107E</a:t>
            </a:r>
            <a:r>
              <a:rPr lang="en-US" sz="4000" b="1" dirty="0">
                <a:solidFill>
                  <a:srgbClr val="C00000"/>
                </a:solidFill>
                <a:latin typeface="+mn-lt"/>
              </a:rPr>
              <a:t>)</a:t>
            </a:r>
            <a:br>
              <a:rPr lang="en-US" sz="4000" b="1" dirty="0">
                <a:latin typeface="+mn-lt"/>
              </a:rPr>
            </a:br>
            <a:br>
              <a:rPr lang="en-US" sz="4000" b="1" dirty="0">
                <a:latin typeface="+mn-lt"/>
              </a:rPr>
            </a:br>
            <a:r>
              <a:rPr lang="en-US" sz="4000" b="1" dirty="0">
                <a:solidFill>
                  <a:srgbClr val="C00000"/>
                </a:solidFill>
                <a:latin typeface="Calibri Light"/>
                <a:ea typeface="Calibri Light"/>
                <a:cs typeface="Calibri Light"/>
              </a:rPr>
              <a:t>E-Commerce</a:t>
            </a:r>
            <a:r>
              <a:rPr lang="en-US" sz="4000" b="1" dirty="0">
                <a:solidFill>
                  <a:srgbClr val="C00000"/>
                </a:solidFill>
                <a:ea typeface="+mj-lt"/>
                <a:cs typeface="+mj-lt"/>
              </a:rPr>
              <a:t> Customer Churn Prediction</a:t>
            </a:r>
            <a:endParaRPr lang="en-US" sz="4000" b="1" dirty="0">
              <a:solidFill>
                <a:srgbClr val="C00000"/>
              </a:solidFill>
              <a:latin typeface="+mn-lt"/>
              <a:ea typeface="Calibri"/>
              <a:cs typeface="Calibri"/>
            </a:endParaRPr>
          </a:p>
        </p:txBody>
      </p:sp>
      <p:sp>
        <p:nvSpPr>
          <p:cNvPr id="3" name="Subtitle 2"/>
          <p:cNvSpPr>
            <a:spLocks noGrp="1"/>
          </p:cNvSpPr>
          <p:nvPr>
            <p:ph type="subTitle" idx="1"/>
          </p:nvPr>
        </p:nvSpPr>
        <p:spPr>
          <a:xfrm>
            <a:off x="3826160" y="3525524"/>
            <a:ext cx="4551284" cy="1216014"/>
          </a:xfrm>
        </p:spPr>
        <p:txBody>
          <a:bodyPr lIns="91440" tIns="45720" rIns="91440" bIns="45720" anchor="t"/>
          <a:lstStyle/>
          <a:p>
            <a:r>
              <a:rPr lang="en-US" dirty="0">
                <a:solidFill>
                  <a:srgbClr val="0070C0"/>
                </a:solidFill>
              </a:rPr>
              <a:t>Team Members:</a:t>
            </a:r>
            <a:br>
              <a:rPr lang="en-US" dirty="0">
                <a:solidFill>
                  <a:srgbClr val="0070C0"/>
                </a:solidFill>
              </a:rPr>
            </a:br>
            <a:r>
              <a:rPr lang="en-US" dirty="0">
                <a:ea typeface="+mn-lt"/>
                <a:cs typeface="+mn-lt"/>
              </a:rPr>
              <a:t>Sameer Reddy: 2520030276</a:t>
            </a:r>
            <a:br>
              <a:rPr lang="en-US" dirty="0">
                <a:ea typeface="+mn-lt"/>
                <a:cs typeface="+mn-lt"/>
              </a:rPr>
            </a:br>
            <a:r>
              <a:rPr lang="en-US" dirty="0" err="1">
                <a:ea typeface="+mn-lt"/>
                <a:cs typeface="+mn-lt"/>
              </a:rPr>
              <a:t>S.Rikhil</a:t>
            </a:r>
            <a:r>
              <a:rPr lang="en-US" dirty="0">
                <a:ea typeface="+mn-lt"/>
                <a:cs typeface="+mn-lt"/>
              </a:rPr>
              <a:t>: 2520030480</a:t>
            </a:r>
            <a:endParaRPr lang="en-US" dirty="0">
              <a:solidFill>
                <a:srgbClr val="0070C0"/>
              </a:solidFill>
              <a:ea typeface="Calibri"/>
              <a:cs typeface="Calibri"/>
            </a:endParaRPr>
          </a:p>
          <a:p>
            <a:endParaRPr lang="en-US" dirty="0">
              <a:solidFill>
                <a:srgbClr val="000000"/>
              </a:solidFill>
              <a:latin typeface="Calibri"/>
              <a:ea typeface="Calibri"/>
              <a:cs typeface="Calibri"/>
            </a:endParaRPr>
          </a:p>
          <a:p>
            <a:pPr marL="171450">
              <a:lnSpc>
                <a:spcPct val="107000"/>
              </a:lnSpc>
              <a:spcAft>
                <a:spcPts val="800"/>
              </a:spcAft>
            </a:pPr>
            <a:r>
              <a:rPr lang="en-US" sz="1800" kern="0" dirty="0">
                <a:solidFill>
                  <a:srgbClr val="000000"/>
                </a:solidFill>
                <a:effectLst/>
                <a:latin typeface="Times New Roman"/>
                <a:ea typeface="Times New Roman" panose="02020603050405020304" pitchFamily="18" charset="0"/>
                <a:cs typeface="Gautami"/>
              </a:rPr>
              <a:t>Under the Esteemed Guidance of</a:t>
            </a:r>
            <a:r>
              <a:rPr lang="en-US" sz="1800" kern="0" dirty="0">
                <a:solidFill>
                  <a:srgbClr val="000000"/>
                </a:solidFill>
                <a:latin typeface="Times New Roman"/>
                <a:ea typeface="Times New Roman" panose="02020603050405020304" pitchFamily="18" charset="0"/>
                <a:cs typeface="Gautami"/>
              </a:rPr>
              <a:t> </a:t>
            </a:r>
            <a:endParaRPr lang="en-IN" sz="1800" kern="100" dirty="0">
              <a:effectLst/>
              <a:latin typeface="Times New Roman"/>
              <a:ea typeface="Calibri" panose="020F0502020204030204" pitchFamily="34" charset="0"/>
              <a:cs typeface="Gautami" panose="020B0502040204020203" pitchFamily="34" charset="0"/>
            </a:endParaRPr>
          </a:p>
          <a:p>
            <a:pPr>
              <a:lnSpc>
                <a:spcPct val="107000"/>
              </a:lnSpc>
              <a:spcAft>
                <a:spcPts val="800"/>
              </a:spcAft>
            </a:pPr>
            <a:r>
              <a:rPr lang="en-US" sz="1800" b="1" kern="0" dirty="0">
                <a:solidFill>
                  <a:srgbClr val="000000"/>
                </a:solidFill>
                <a:latin typeface="Times New Roman"/>
                <a:ea typeface="+mn-lt"/>
                <a:cs typeface="Gautami"/>
              </a:rPr>
              <a:t>Ms. Rani </a:t>
            </a:r>
            <a:r>
              <a:rPr lang="en-US" sz="1800" b="1" kern="0" dirty="0" err="1">
                <a:solidFill>
                  <a:srgbClr val="000000"/>
                </a:solidFill>
                <a:latin typeface="Times New Roman"/>
                <a:ea typeface="+mn-lt"/>
                <a:cs typeface="Gautami"/>
              </a:rPr>
              <a:t>Medidha</a:t>
            </a:r>
            <a:br>
              <a:rPr lang="en-US" sz="1800" b="1" kern="0" dirty="0">
                <a:solidFill>
                  <a:srgbClr val="000000"/>
                </a:solidFill>
                <a:latin typeface="Times New Roman"/>
                <a:ea typeface="Calibri"/>
                <a:cs typeface="Gautami"/>
              </a:rPr>
            </a:br>
            <a:r>
              <a:rPr lang="en-US" sz="1800" b="1" kern="0" dirty="0">
                <a:solidFill>
                  <a:srgbClr val="000000"/>
                </a:solidFill>
                <a:latin typeface="Times New Roman"/>
                <a:ea typeface="+mn-lt"/>
                <a:cs typeface="Gautami"/>
              </a:rPr>
              <a:t>CSE department </a:t>
            </a:r>
            <a:endParaRPr lang="en-IN" sz="1800" kern="100" dirty="0">
              <a:effectLst/>
              <a:latin typeface="Times New Roman"/>
              <a:ea typeface="Calibri" panose="020F0502020204030204" pitchFamily="34" charset="0"/>
              <a:cs typeface="Gautami"/>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lIns="91440" tIns="45720" rIns="91440" bIns="45720" rtlCol="0" anchor="t">
            <a:spAutoFit/>
          </a:bodyPr>
          <a:lstStyle/>
          <a:p>
            <a:pPr algn="ctr"/>
            <a:r>
              <a:rPr lang="en-US" sz="3200" b="1" dirty="0">
                <a:solidFill>
                  <a:schemeClr val="bg1"/>
                </a:solidFill>
                <a:latin typeface="Calibri"/>
                <a:ea typeface="Calibri"/>
                <a:cs typeface="Calibri"/>
              </a:rPr>
              <a:t>Problem Definition</a:t>
            </a:r>
            <a:endParaRPr lang="en-US" dirty="0">
              <a:solidFill>
                <a:schemeClr val="bg1"/>
              </a:solidFill>
            </a:endParaRPr>
          </a:p>
        </p:txBody>
      </p:sp>
      <p:sp>
        <p:nvSpPr>
          <p:cNvPr id="4" name="TextBox 3">
            <a:extLst>
              <a:ext uri="{FF2B5EF4-FFF2-40B4-BE49-F238E27FC236}">
                <a16:creationId xmlns:a16="http://schemas.microsoft.com/office/drawing/2014/main" id="{F1386F1C-3560-1568-C426-8EE703D90E9D}"/>
              </a:ext>
            </a:extLst>
          </p:cNvPr>
          <p:cNvSpPr txBox="1"/>
          <p:nvPr/>
        </p:nvSpPr>
        <p:spPr>
          <a:xfrm>
            <a:off x="5708135" y="1215864"/>
            <a:ext cx="6486305" cy="54014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300" b="1" dirty="0">
                <a:ea typeface="+mn-lt"/>
                <a:cs typeface="+mn-lt"/>
              </a:rPr>
              <a:t>What problem?</a:t>
            </a:r>
            <a:endParaRPr lang="en-US" sz="2300" dirty="0">
              <a:ea typeface="Calibri"/>
              <a:cs typeface="Calibri"/>
            </a:endParaRPr>
          </a:p>
          <a:p>
            <a:r>
              <a:rPr lang="en-US" sz="2300" dirty="0">
                <a:ea typeface="+mn-lt"/>
                <a:cs typeface="+mn-lt"/>
              </a:rPr>
              <a:t>Predicting online shoppers at risk of abandoning the platform before they stop buying.</a:t>
            </a:r>
            <a:endParaRPr lang="en-US" sz="2300" dirty="0">
              <a:ea typeface="Calibri"/>
              <a:cs typeface="Calibri"/>
            </a:endParaRPr>
          </a:p>
          <a:p>
            <a:pPr marL="285750" indent="-285750">
              <a:buFont typeface="Arial"/>
              <a:buChar char="•"/>
            </a:pPr>
            <a:r>
              <a:rPr lang="en-US" sz="2300" b="1" dirty="0">
                <a:ea typeface="+mn-lt"/>
                <a:cs typeface="+mn-lt"/>
              </a:rPr>
              <a:t>Why important?</a:t>
            </a:r>
            <a:endParaRPr lang="en-US" sz="2300" dirty="0">
              <a:ea typeface="Calibri"/>
              <a:cs typeface="Calibri"/>
            </a:endParaRPr>
          </a:p>
          <a:p>
            <a:r>
              <a:rPr lang="en-US" sz="2300" dirty="0">
                <a:ea typeface="+mn-lt"/>
                <a:cs typeface="+mn-lt"/>
              </a:rPr>
              <a:t>Acquiring a new customer costs </a:t>
            </a:r>
            <a:r>
              <a:rPr lang="en-US" sz="2300" b="1" dirty="0">
                <a:ea typeface="+mn-lt"/>
                <a:cs typeface="+mn-lt"/>
              </a:rPr>
              <a:t>5x more</a:t>
            </a:r>
            <a:r>
              <a:rPr lang="en-US" sz="2300" dirty="0">
                <a:ea typeface="+mn-lt"/>
                <a:cs typeface="+mn-lt"/>
              </a:rPr>
              <a:t> than retaining an existing one, and a </a:t>
            </a:r>
            <a:r>
              <a:rPr lang="en-US" sz="2300" b="1" dirty="0">
                <a:ea typeface="+mn-lt"/>
                <a:cs typeface="+mn-lt"/>
              </a:rPr>
              <a:t>5% boost</a:t>
            </a:r>
            <a:r>
              <a:rPr lang="en-US" sz="2300" dirty="0">
                <a:ea typeface="+mn-lt"/>
                <a:cs typeface="+mn-lt"/>
              </a:rPr>
              <a:t> in retention can lift profits by up to </a:t>
            </a:r>
            <a:r>
              <a:rPr lang="en-US" sz="2300" b="1" dirty="0">
                <a:ea typeface="+mn-lt"/>
                <a:cs typeface="+mn-lt"/>
              </a:rPr>
              <a:t>95%</a:t>
            </a:r>
            <a:r>
              <a:rPr lang="en-US" sz="2300" dirty="0">
                <a:ea typeface="+mn-lt"/>
                <a:cs typeface="+mn-lt"/>
              </a:rPr>
              <a:t>.</a:t>
            </a:r>
            <a:endParaRPr lang="en-US" sz="2300" dirty="0">
              <a:ea typeface="Calibri"/>
              <a:cs typeface="Calibri"/>
            </a:endParaRPr>
          </a:p>
          <a:p>
            <a:pPr marL="285750" indent="-285750">
              <a:buFont typeface="Arial"/>
              <a:buChar char="•"/>
            </a:pPr>
            <a:r>
              <a:rPr lang="en-US" sz="2300" b="1" dirty="0">
                <a:ea typeface="+mn-lt"/>
                <a:cs typeface="+mn-lt"/>
              </a:rPr>
              <a:t>Who will use it?</a:t>
            </a:r>
            <a:endParaRPr lang="en-US" sz="2300" dirty="0">
              <a:ea typeface="Calibri"/>
              <a:cs typeface="Calibri"/>
            </a:endParaRPr>
          </a:p>
          <a:p>
            <a:r>
              <a:rPr lang="en-US" sz="2300" b="1" dirty="0">
                <a:ea typeface="+mn-lt"/>
                <a:cs typeface="+mn-lt"/>
              </a:rPr>
              <a:t>Marketing &amp; Retention Teams</a:t>
            </a:r>
            <a:r>
              <a:rPr lang="en-US" sz="2300" dirty="0">
                <a:ea typeface="+mn-lt"/>
                <a:cs typeface="+mn-lt"/>
              </a:rPr>
              <a:t> to run targeted promotions, discounts, and proactive customer support.</a:t>
            </a:r>
            <a:endParaRPr lang="en-US" sz="2300" dirty="0">
              <a:ea typeface="Calibri"/>
              <a:cs typeface="Calibri"/>
            </a:endParaRPr>
          </a:p>
          <a:p>
            <a:pPr marL="285750" indent="-285750">
              <a:buFont typeface="Arial"/>
              <a:buChar char="•"/>
            </a:pPr>
            <a:r>
              <a:rPr lang="en-US" sz="2300" b="1" dirty="0">
                <a:ea typeface="+mn-lt"/>
                <a:cs typeface="+mn-lt"/>
              </a:rPr>
              <a:t>Expected output?</a:t>
            </a:r>
            <a:endParaRPr lang="en-US" sz="2300" dirty="0">
              <a:ea typeface="Calibri"/>
              <a:cs typeface="Calibri"/>
            </a:endParaRPr>
          </a:p>
          <a:p>
            <a:r>
              <a:rPr lang="en-US" sz="2300" dirty="0">
                <a:ea typeface="+mn-lt"/>
                <a:cs typeface="+mn-lt"/>
              </a:rPr>
              <a:t>A </a:t>
            </a:r>
            <a:r>
              <a:rPr lang="en-US" sz="2300" b="1" dirty="0">
                <a:ea typeface="+mn-lt"/>
                <a:cs typeface="+mn-lt"/>
              </a:rPr>
              <a:t>Churn Risk Score (0–100%)</a:t>
            </a:r>
            <a:r>
              <a:rPr lang="en-US" sz="2300" dirty="0">
                <a:ea typeface="+mn-lt"/>
                <a:cs typeface="+mn-lt"/>
              </a:rPr>
              <a:t> and a binary label (</a:t>
            </a:r>
            <a:r>
              <a:rPr lang="en-US" sz="2300" b="1" dirty="0">
                <a:ea typeface="+mn-lt"/>
                <a:cs typeface="+mn-lt"/>
              </a:rPr>
              <a:t>Churn / Retained</a:t>
            </a:r>
            <a:r>
              <a:rPr lang="en-US" sz="2300" dirty="0">
                <a:ea typeface="+mn-lt"/>
                <a:cs typeface="+mn-lt"/>
              </a:rPr>
              <a:t>) for every active customer.</a:t>
            </a:r>
            <a:endParaRPr lang="en-US" sz="2300" dirty="0">
              <a:ea typeface="Calibri"/>
              <a:cs typeface="Calibri"/>
            </a:endParaRPr>
          </a:p>
          <a:p>
            <a:pPr algn="l"/>
            <a:endParaRPr lang="en-US" sz="2300" dirty="0">
              <a:ea typeface="Calibri"/>
              <a:cs typeface="Calibri"/>
            </a:endParaRPr>
          </a:p>
        </p:txBody>
      </p:sp>
      <p:pic>
        <p:nvPicPr>
          <p:cNvPr id="5" name="Picture 4">
            <a:extLst>
              <a:ext uri="{FF2B5EF4-FFF2-40B4-BE49-F238E27FC236}">
                <a16:creationId xmlns:a16="http://schemas.microsoft.com/office/drawing/2014/main" id="{591C420C-CD0A-0CCA-056C-8E8C4A3B99DD}"/>
              </a:ext>
            </a:extLst>
          </p:cNvPr>
          <p:cNvPicPr>
            <a:picLocks noChangeAspect="1"/>
          </p:cNvPicPr>
          <p:nvPr/>
        </p:nvPicPr>
        <p:blipFill>
          <a:blip r:embed="rId2"/>
          <a:srcRect l="10104" t="5811" r="6267" b="34783"/>
          <a:stretch>
            <a:fillRect/>
          </a:stretch>
        </p:blipFill>
        <p:spPr>
          <a:xfrm>
            <a:off x="545959" y="2147206"/>
            <a:ext cx="4224131" cy="2569892"/>
          </a:xfrm>
          <a:prstGeom prst="rect">
            <a:avLst/>
          </a:prstGeom>
        </p:spPr>
      </p:pic>
      <p:sp>
        <p:nvSpPr>
          <p:cNvPr id="6" name="TextBox 5">
            <a:extLst>
              <a:ext uri="{FF2B5EF4-FFF2-40B4-BE49-F238E27FC236}">
                <a16:creationId xmlns:a16="http://schemas.microsoft.com/office/drawing/2014/main" id="{F39935DF-E5CE-EA55-5F7B-BE239459FA1C}"/>
              </a:ext>
            </a:extLst>
          </p:cNvPr>
          <p:cNvSpPr txBox="1"/>
          <p:nvPr/>
        </p:nvSpPr>
        <p:spPr>
          <a:xfrm>
            <a:off x="2660542" y="4843219"/>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Calibri"/>
                <a:cs typeface="Calibri"/>
              </a:rPr>
              <a:t>Source:- </a:t>
            </a:r>
            <a:r>
              <a:rPr lang="en-US" sz="1400" dirty="0">
                <a:ea typeface="+mn-lt"/>
                <a:cs typeface="+mn-lt"/>
              </a:rPr>
              <a:t>E-Commerce Customer Churn Dataset on Kaggle</a:t>
            </a:r>
            <a:endParaRPr lang="en-US" sz="1400">
              <a:ea typeface="Calibri"/>
              <a:cs typeface="Calibri"/>
            </a:endParaRPr>
          </a:p>
        </p:txBody>
      </p:sp>
    </p:spTree>
    <p:extLst>
      <p:ext uri="{BB962C8B-B14F-4D97-AF65-F5344CB8AC3E}">
        <p14:creationId xmlns:p14="http://schemas.microsoft.com/office/powerpoint/2010/main" val="1672422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9167F1-AD0C-9D9A-23F9-B1BF658353B7}"/>
              </a:ext>
            </a:extLst>
          </p:cNvPr>
          <p:cNvPicPr>
            <a:picLocks noChangeAspect="1"/>
          </p:cNvPicPr>
          <p:nvPr/>
        </p:nvPicPr>
        <p:blipFill>
          <a:blip r:embed="rId2"/>
          <a:stretch>
            <a:fillRect/>
          </a:stretch>
        </p:blipFill>
        <p:spPr>
          <a:xfrm>
            <a:off x="-2325" y="845175"/>
            <a:ext cx="3052650" cy="2545650"/>
          </a:xfrm>
          <a:prstGeom prst="rect">
            <a:avLst/>
          </a:prstGeom>
        </p:spPr>
      </p:pic>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lIns="91440" tIns="45720" rIns="91440" bIns="45720" rtlCol="0" anchor="t">
            <a:spAutoFit/>
          </a:bodyPr>
          <a:lstStyle/>
          <a:p>
            <a:pPr algn="ctr"/>
            <a:r>
              <a:rPr lang="en-US" sz="3200" b="1" dirty="0">
                <a:solidFill>
                  <a:schemeClr val="bg1"/>
                </a:solidFill>
              </a:rPr>
              <a:t>Dataset Collection</a:t>
            </a:r>
          </a:p>
        </p:txBody>
      </p:sp>
      <p:sp>
        <p:nvSpPr>
          <p:cNvPr id="4" name="TextBox 3">
            <a:extLst>
              <a:ext uri="{FF2B5EF4-FFF2-40B4-BE49-F238E27FC236}">
                <a16:creationId xmlns:a16="http://schemas.microsoft.com/office/drawing/2014/main" id="{95753044-3315-76D3-5ECD-F99B1E4EEE69}"/>
              </a:ext>
            </a:extLst>
          </p:cNvPr>
          <p:cNvSpPr txBox="1"/>
          <p:nvPr/>
        </p:nvSpPr>
        <p:spPr>
          <a:xfrm>
            <a:off x="238932" y="1478796"/>
            <a:ext cx="11706385"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dirty="0"/>
              <a:t>Dataset Source:</a:t>
            </a:r>
            <a:endParaRPr lang="en-US" sz="2000" b="1">
              <a:ea typeface="Calibri"/>
              <a:cs typeface="Calibri"/>
            </a:endParaRPr>
          </a:p>
          <a:p>
            <a:r>
              <a:rPr lang="en-US" sz="2000" dirty="0"/>
              <a:t>Kaggle →  E-Commerce Customer Churn Analysis and Prediction (by Ankit Verma).</a:t>
            </a:r>
            <a:br>
              <a:rPr lang="en-US" sz="2000" dirty="0"/>
            </a:br>
            <a:endParaRPr lang="en-US" sz="2000" dirty="0">
              <a:ea typeface="Calibri"/>
              <a:cs typeface="Calibri"/>
            </a:endParaRPr>
          </a:p>
          <a:p>
            <a:pPr marL="285750" indent="-285750">
              <a:buFont typeface="Arial"/>
              <a:buChar char="•"/>
            </a:pPr>
            <a:r>
              <a:rPr lang="en-US" sz="2000" b="1" dirty="0"/>
              <a:t>Dimensions:</a:t>
            </a:r>
            <a:endParaRPr lang="en-US" sz="2000" b="1">
              <a:ea typeface="Calibri"/>
              <a:cs typeface="Calibri"/>
            </a:endParaRPr>
          </a:p>
          <a:p>
            <a:r>
              <a:rPr lang="en-US" sz="2000" dirty="0"/>
              <a:t>5,630 rows (customers) and 20 columns (features).</a:t>
            </a:r>
            <a:br>
              <a:rPr lang="en-US" sz="2000" dirty="0"/>
            </a:br>
            <a:endParaRPr lang="en-US" sz="2000" dirty="0">
              <a:ea typeface="Calibri"/>
              <a:cs typeface="Calibri"/>
            </a:endParaRPr>
          </a:p>
          <a:p>
            <a:pPr marL="285750" indent="-285750">
              <a:buFont typeface="Arial"/>
              <a:buChar char="•"/>
            </a:pPr>
            <a:r>
              <a:rPr lang="en-US" sz="2000" b="1" dirty="0"/>
              <a:t>Target Variable:</a:t>
            </a:r>
            <a:endParaRPr lang="en-US" sz="2000" b="1">
              <a:ea typeface="Calibri"/>
              <a:cs typeface="Calibri"/>
            </a:endParaRPr>
          </a:p>
          <a:p>
            <a:r>
              <a:rPr lang="en-US" sz="2000" dirty="0"/>
              <a:t>Churn → Binary (0 = Retained, 1 = Churned).</a:t>
            </a:r>
            <a:br>
              <a:rPr lang="en-US" sz="2000" dirty="0"/>
            </a:br>
            <a:endParaRPr lang="en-US" sz="2000" dirty="0">
              <a:ea typeface="Calibri"/>
              <a:cs typeface="Calibri"/>
            </a:endParaRPr>
          </a:p>
          <a:p>
            <a:pPr marL="285750" indent="-285750">
              <a:buFont typeface="Arial"/>
              <a:buChar char="•"/>
            </a:pPr>
            <a:r>
              <a:rPr lang="en-US" sz="2000" b="1" dirty="0"/>
              <a:t>Key Feature Categories:</a:t>
            </a:r>
            <a:endParaRPr lang="en-US" sz="2000" b="1">
              <a:ea typeface="Calibri"/>
              <a:cs typeface="Calibri"/>
            </a:endParaRPr>
          </a:p>
          <a:p>
            <a:pPr marL="742950" lvl="1" indent="-285750">
              <a:buFont typeface="Arial"/>
              <a:buChar char="•"/>
            </a:pPr>
            <a:r>
              <a:rPr lang="en-US" sz="2000" b="1" dirty="0"/>
              <a:t>Demographics</a:t>
            </a:r>
            <a:r>
              <a:rPr lang="en-US" sz="2000" dirty="0"/>
              <a:t>: </a:t>
            </a:r>
            <a:r>
              <a:rPr lang="en-US" sz="2000" dirty="0" err="1"/>
              <a:t>CityTier</a:t>
            </a:r>
            <a:r>
              <a:rPr lang="en-US" sz="2000" dirty="0"/>
              <a:t>, Gender, </a:t>
            </a:r>
            <a:r>
              <a:rPr lang="en-US" sz="2000" dirty="0" err="1"/>
              <a:t>MaritalStatus</a:t>
            </a:r>
            <a:r>
              <a:rPr lang="en-US" sz="2000" dirty="0"/>
              <a:t>.</a:t>
            </a:r>
            <a:endParaRPr lang="en-US" sz="2000" dirty="0">
              <a:ea typeface="Calibri"/>
              <a:cs typeface="Calibri"/>
            </a:endParaRPr>
          </a:p>
          <a:p>
            <a:pPr marL="742950" lvl="1" indent="-285750">
              <a:buFont typeface="Arial"/>
              <a:buChar char="•"/>
            </a:pPr>
            <a:r>
              <a:rPr lang="en-US" sz="2000" b="1" dirty="0"/>
              <a:t>Account Details</a:t>
            </a:r>
            <a:r>
              <a:rPr lang="en-US" sz="2000" dirty="0"/>
              <a:t>: Tenure, </a:t>
            </a:r>
            <a:r>
              <a:rPr lang="en-US" sz="2000" dirty="0" err="1"/>
              <a:t>PreferredLoginDevice</a:t>
            </a:r>
            <a:r>
              <a:rPr lang="en-US" sz="2000" dirty="0"/>
              <a:t>, </a:t>
            </a:r>
            <a:r>
              <a:rPr lang="en-US" sz="2000" dirty="0" err="1"/>
              <a:t>WarehouseToHome</a:t>
            </a:r>
            <a:r>
              <a:rPr lang="en-US" sz="2000" dirty="0"/>
              <a:t>.</a:t>
            </a:r>
            <a:endParaRPr lang="en-US" sz="2000" dirty="0">
              <a:ea typeface="Calibri"/>
              <a:cs typeface="Calibri"/>
            </a:endParaRPr>
          </a:p>
          <a:p>
            <a:pPr marL="742950" lvl="1" indent="-285750">
              <a:buFont typeface="Arial"/>
              <a:buChar char="•"/>
            </a:pPr>
            <a:r>
              <a:rPr lang="en-US" sz="2000" b="1" dirty="0" err="1"/>
              <a:t>Behaviour</a:t>
            </a:r>
            <a:r>
              <a:rPr lang="en-US" sz="2000" b="1" dirty="0"/>
              <a:t> &amp; Usage</a:t>
            </a:r>
            <a:r>
              <a:rPr lang="en-US" sz="2000" dirty="0"/>
              <a:t>: </a:t>
            </a:r>
            <a:r>
              <a:rPr lang="en-US" sz="2000" dirty="0" err="1"/>
              <a:t>OrderCount</a:t>
            </a:r>
            <a:r>
              <a:rPr lang="en-US" sz="2000" dirty="0"/>
              <a:t>, </a:t>
            </a:r>
            <a:r>
              <a:rPr lang="en-US" sz="2000" dirty="0" err="1"/>
              <a:t>DaySinceLastOrder</a:t>
            </a:r>
            <a:r>
              <a:rPr lang="en-US" sz="2000" dirty="0"/>
              <a:t>, </a:t>
            </a:r>
            <a:r>
              <a:rPr lang="en-US" sz="2000" dirty="0" err="1"/>
              <a:t>CashbackAmount</a:t>
            </a:r>
            <a:r>
              <a:rPr lang="en-US" sz="2000" dirty="0"/>
              <a:t>.</a:t>
            </a:r>
            <a:endParaRPr lang="en-US" sz="2000" dirty="0">
              <a:ea typeface="Calibri"/>
              <a:cs typeface="Calibri"/>
            </a:endParaRPr>
          </a:p>
          <a:p>
            <a:pPr marL="742950" lvl="1" indent="-285750">
              <a:buFont typeface="Arial"/>
              <a:buChar char="•"/>
            </a:pPr>
            <a:r>
              <a:rPr lang="en-US" sz="2000" b="1" dirty="0"/>
              <a:t>Customer Service</a:t>
            </a:r>
            <a:r>
              <a:rPr lang="en-US" sz="2000" dirty="0"/>
              <a:t>: Complain (0 or 1), </a:t>
            </a:r>
            <a:r>
              <a:rPr lang="en-US" sz="2000" dirty="0" err="1"/>
              <a:t>SatisfactionScore</a:t>
            </a:r>
            <a:r>
              <a:rPr lang="en-US" sz="2000" dirty="0"/>
              <a:t> (1 to 5).</a:t>
            </a:r>
            <a:endParaRPr lang="en-US" sz="2000" dirty="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lIns="91440" tIns="45720" rIns="91440" bIns="45720" rtlCol="0" anchor="t">
            <a:spAutoFit/>
          </a:bodyPr>
          <a:lstStyle/>
          <a:p>
            <a:pPr algn="ctr"/>
            <a:r>
              <a:rPr lang="en-US" sz="3200" b="1" dirty="0">
                <a:solidFill>
                  <a:schemeClr val="bg1"/>
                </a:solidFill>
              </a:rPr>
              <a:t>Data Understanding</a:t>
            </a:r>
          </a:p>
        </p:txBody>
      </p:sp>
      <p:sp>
        <p:nvSpPr>
          <p:cNvPr id="4" name="TextBox 3">
            <a:extLst>
              <a:ext uri="{FF2B5EF4-FFF2-40B4-BE49-F238E27FC236}">
                <a16:creationId xmlns:a16="http://schemas.microsoft.com/office/drawing/2014/main" id="{7158C179-63E0-CBD4-82E2-60FA83841FC4}"/>
              </a:ext>
            </a:extLst>
          </p:cNvPr>
          <p:cNvSpPr txBox="1"/>
          <p:nvPr/>
        </p:nvSpPr>
        <p:spPr>
          <a:xfrm>
            <a:off x="6289729" y="781373"/>
            <a:ext cx="5527728" cy="58477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200" b="1" dirty="0">
                <a:latin typeface="Calibri"/>
                <a:ea typeface="Calibri"/>
                <a:cs typeface="Calibri"/>
              </a:rPr>
              <a:t>Dataset Scale</a:t>
            </a:r>
            <a:r>
              <a:rPr lang="en-US" sz="2200" b="1" dirty="0">
                <a:latin typeface="Calibri Light"/>
                <a:ea typeface="Calibri Light"/>
                <a:cs typeface="Calibri Light"/>
              </a:rPr>
              <a:t>:</a:t>
            </a:r>
            <a:r>
              <a:rPr lang="en-US" sz="2200" dirty="0">
                <a:latin typeface="Calibri Light"/>
                <a:ea typeface="Calibri Light"/>
                <a:cs typeface="Calibri Light"/>
              </a:rPr>
              <a:t> </a:t>
            </a:r>
            <a:r>
              <a:rPr lang="en-US" sz="2200" b="1" dirty="0">
                <a:latin typeface="Calibri Light"/>
                <a:ea typeface="Calibri Light"/>
                <a:cs typeface="Calibri Light"/>
              </a:rPr>
              <a:t>5,630 rows</a:t>
            </a:r>
            <a:r>
              <a:rPr lang="en-US" sz="2200" dirty="0">
                <a:latin typeface="Calibri Light"/>
                <a:ea typeface="Calibri Light"/>
                <a:cs typeface="Calibri Light"/>
              </a:rPr>
              <a:t>, </a:t>
            </a:r>
            <a:r>
              <a:rPr lang="en-US" sz="2200" b="1" dirty="0">
                <a:latin typeface="Calibri Light"/>
                <a:ea typeface="Calibri Light"/>
                <a:cs typeface="Calibri Light"/>
              </a:rPr>
              <a:t>20 columns</a:t>
            </a:r>
            <a:r>
              <a:rPr lang="en-US" sz="2200" dirty="0">
                <a:latin typeface="Calibri Light"/>
                <a:ea typeface="Calibri Light"/>
                <a:cs typeface="Calibri Light"/>
              </a:rPr>
              <a:t> </a:t>
            </a:r>
            <a:r>
              <a:rPr lang="en-US" sz="1700" dirty="0">
                <a:latin typeface="Calibri Light"/>
                <a:ea typeface="Calibri Light"/>
                <a:cs typeface="Calibri Light"/>
              </a:rPr>
              <a:t>(19 features + 1 target)</a:t>
            </a:r>
            <a:r>
              <a:rPr lang="en-US" sz="2200" dirty="0">
                <a:latin typeface="Calibri Light"/>
                <a:ea typeface="Calibri Light"/>
                <a:cs typeface="Calibri Light"/>
              </a:rPr>
              <a:t>, and </a:t>
            </a:r>
            <a:r>
              <a:rPr lang="en-US" sz="2200" b="1" dirty="0">
                <a:latin typeface="Calibri Light"/>
                <a:ea typeface="Calibri Light"/>
                <a:cs typeface="Calibri Light"/>
              </a:rPr>
              <a:t>0 duplicates</a:t>
            </a:r>
            <a:r>
              <a:rPr lang="en-US" sz="2200" dirty="0">
                <a:latin typeface="Calibri Light"/>
                <a:ea typeface="Calibri Light"/>
                <a:cs typeface="Calibri Light"/>
              </a:rPr>
              <a:t>.</a:t>
            </a:r>
            <a:br>
              <a:rPr lang="en-US" sz="2200" dirty="0">
                <a:latin typeface="Calibri Light"/>
                <a:ea typeface="Calibri Light"/>
                <a:cs typeface="Calibri Light"/>
              </a:rPr>
            </a:br>
            <a:endParaRPr lang="en-US" sz="2200" dirty="0">
              <a:latin typeface="Calibri Light"/>
              <a:ea typeface="Calibri Light"/>
              <a:cs typeface="Calibri Light"/>
            </a:endParaRPr>
          </a:p>
          <a:p>
            <a:pPr marL="285750" indent="-285750">
              <a:buFont typeface="Arial"/>
              <a:buChar char="•"/>
            </a:pPr>
            <a:r>
              <a:rPr lang="en-US" sz="2200" b="1" dirty="0">
                <a:latin typeface="Calibri"/>
                <a:ea typeface="Calibri"/>
                <a:cs typeface="Calibri"/>
              </a:rPr>
              <a:t>Data Types</a:t>
            </a:r>
            <a:r>
              <a:rPr lang="en-US" sz="2200" b="1" dirty="0">
                <a:latin typeface="Calibri Light"/>
                <a:ea typeface="Calibri Light"/>
                <a:cs typeface="Calibri Light"/>
              </a:rPr>
              <a:t>:</a:t>
            </a:r>
            <a:r>
              <a:rPr lang="en-US" sz="2200" dirty="0">
                <a:latin typeface="Calibri Light"/>
                <a:ea typeface="Calibri Light"/>
                <a:cs typeface="Calibri Light"/>
              </a:rPr>
              <a:t> </a:t>
            </a:r>
            <a:r>
              <a:rPr lang="en-US" sz="2200" b="1" dirty="0">
                <a:latin typeface="Calibri Light"/>
                <a:ea typeface="Calibri Light"/>
                <a:cs typeface="Calibri Light"/>
              </a:rPr>
              <a:t>14 numerical</a:t>
            </a:r>
            <a:r>
              <a:rPr lang="en-US" sz="2200" dirty="0">
                <a:latin typeface="Calibri Light"/>
                <a:ea typeface="Calibri Light"/>
                <a:cs typeface="Calibri Light"/>
              </a:rPr>
              <a:t> </a:t>
            </a:r>
            <a:r>
              <a:rPr lang="en-US" sz="1700" dirty="0">
                <a:latin typeface="Calibri Light"/>
                <a:ea typeface="Calibri Light"/>
                <a:cs typeface="Calibri Light"/>
              </a:rPr>
              <a:t>(e.g., Tenure, </a:t>
            </a:r>
            <a:r>
              <a:rPr lang="en-US" sz="1700" dirty="0" err="1">
                <a:latin typeface="Calibri Light"/>
                <a:ea typeface="Calibri Light"/>
                <a:cs typeface="Calibri Light"/>
              </a:rPr>
              <a:t>CashbackAmount</a:t>
            </a:r>
            <a:r>
              <a:rPr lang="en-US" sz="1700" dirty="0">
                <a:latin typeface="Calibri Light"/>
                <a:ea typeface="Calibri Light"/>
                <a:cs typeface="Calibri Light"/>
              </a:rPr>
              <a:t>, </a:t>
            </a:r>
            <a:r>
              <a:rPr lang="en-US" sz="1700" dirty="0" err="1">
                <a:latin typeface="Calibri Light"/>
                <a:ea typeface="Calibri Light"/>
                <a:cs typeface="Calibri Light"/>
              </a:rPr>
              <a:t>DaySinceLastOrder</a:t>
            </a:r>
            <a:r>
              <a:rPr lang="en-US" sz="1700" dirty="0">
                <a:latin typeface="Calibri Light"/>
                <a:ea typeface="Calibri Light"/>
                <a:cs typeface="Calibri Light"/>
              </a:rPr>
              <a:t>)</a:t>
            </a:r>
            <a:r>
              <a:rPr lang="en-US" sz="2200" dirty="0">
                <a:latin typeface="Calibri Light"/>
                <a:ea typeface="Calibri Light"/>
                <a:cs typeface="Calibri Light"/>
              </a:rPr>
              <a:t> and </a:t>
            </a:r>
            <a:r>
              <a:rPr lang="en-US" sz="2200" b="1" dirty="0">
                <a:latin typeface="Calibri Light"/>
                <a:ea typeface="Calibri Light"/>
                <a:cs typeface="Calibri Light"/>
              </a:rPr>
              <a:t>6 categorical</a:t>
            </a:r>
            <a:r>
              <a:rPr lang="en-US" sz="2200" dirty="0">
                <a:latin typeface="Calibri Light"/>
                <a:ea typeface="Calibri Light"/>
                <a:cs typeface="Calibri Light"/>
              </a:rPr>
              <a:t> </a:t>
            </a:r>
            <a:r>
              <a:rPr lang="en-US" sz="1700" dirty="0">
                <a:latin typeface="Calibri Light"/>
                <a:ea typeface="Calibri Light"/>
                <a:cs typeface="Calibri Light"/>
              </a:rPr>
              <a:t>(e.g., Gender, </a:t>
            </a:r>
            <a:r>
              <a:rPr lang="en-US" sz="1700" dirty="0" err="1">
                <a:latin typeface="Calibri Light"/>
                <a:ea typeface="Calibri Light"/>
                <a:cs typeface="Calibri Light"/>
              </a:rPr>
              <a:t>MaritalStatus</a:t>
            </a:r>
            <a:r>
              <a:rPr lang="en-US" sz="1700" dirty="0">
                <a:latin typeface="Calibri Light"/>
                <a:ea typeface="Calibri Light"/>
                <a:cs typeface="Calibri Light"/>
              </a:rPr>
              <a:t>, </a:t>
            </a:r>
            <a:r>
              <a:rPr lang="en-US" sz="1700" dirty="0" err="1">
                <a:latin typeface="Calibri Light"/>
                <a:ea typeface="Calibri Light"/>
                <a:cs typeface="Calibri Light"/>
              </a:rPr>
              <a:t>PreferredPaymentMode</a:t>
            </a:r>
            <a:r>
              <a:rPr lang="en-US" sz="1700" dirty="0">
                <a:latin typeface="Calibri Light"/>
                <a:ea typeface="Calibri Light"/>
                <a:cs typeface="Calibri Light"/>
              </a:rPr>
              <a:t>)</a:t>
            </a:r>
            <a:r>
              <a:rPr lang="en-US" sz="2200" dirty="0">
                <a:latin typeface="Calibri Light"/>
                <a:ea typeface="Calibri Light"/>
                <a:cs typeface="Calibri Light"/>
              </a:rPr>
              <a:t>.</a:t>
            </a:r>
            <a:br>
              <a:rPr lang="en-US" sz="2200" dirty="0">
                <a:latin typeface="Calibri Light"/>
                <a:ea typeface="Calibri Light"/>
                <a:cs typeface="Calibri Light"/>
              </a:rPr>
            </a:br>
            <a:endParaRPr lang="en-US" sz="2200" dirty="0">
              <a:latin typeface="Calibri Light"/>
              <a:ea typeface="Calibri Light"/>
              <a:cs typeface="Calibri Light"/>
            </a:endParaRPr>
          </a:p>
          <a:p>
            <a:pPr marL="285750" indent="-285750">
              <a:buFont typeface="Arial"/>
              <a:buChar char="•"/>
            </a:pPr>
            <a:r>
              <a:rPr lang="en-US" sz="2200" b="1" dirty="0">
                <a:latin typeface="Calibri"/>
                <a:ea typeface="Calibri"/>
                <a:cs typeface="Calibri"/>
              </a:rPr>
              <a:t>Missing Values</a:t>
            </a:r>
            <a:r>
              <a:rPr lang="en-US" sz="2200" b="1" dirty="0">
                <a:latin typeface="Calibri Light"/>
                <a:ea typeface="Calibri Light"/>
                <a:cs typeface="Calibri Light"/>
              </a:rPr>
              <a:t>:</a:t>
            </a:r>
            <a:r>
              <a:rPr lang="en-US" sz="2200" dirty="0">
                <a:latin typeface="Calibri Light"/>
                <a:ea typeface="Calibri Light"/>
                <a:cs typeface="Calibri Light"/>
              </a:rPr>
              <a:t> Found across </a:t>
            </a:r>
            <a:r>
              <a:rPr lang="en-US" sz="2200" b="1" dirty="0">
                <a:latin typeface="Calibri Light"/>
                <a:ea typeface="Calibri Light"/>
                <a:cs typeface="Calibri Light"/>
              </a:rPr>
              <a:t>7 numerical columns</a:t>
            </a:r>
            <a:r>
              <a:rPr lang="en-US" sz="2200" dirty="0">
                <a:latin typeface="Calibri Light"/>
                <a:ea typeface="Calibri Light"/>
                <a:cs typeface="Calibri Light"/>
              </a:rPr>
              <a:t>, but all are under </a:t>
            </a:r>
            <a:r>
              <a:rPr lang="en-US" sz="2200" b="1" dirty="0">
                <a:latin typeface="Calibri Light"/>
                <a:ea typeface="Calibri Light"/>
                <a:cs typeface="Calibri Light"/>
              </a:rPr>
              <a:t>6%</a:t>
            </a:r>
            <a:r>
              <a:rPr lang="en-US" sz="2200" dirty="0">
                <a:latin typeface="Calibri Light"/>
                <a:ea typeface="Calibri Light"/>
                <a:cs typeface="Calibri Light"/>
              </a:rPr>
              <a:t> </a:t>
            </a:r>
            <a:r>
              <a:rPr lang="en-US" sz="1700" dirty="0">
                <a:latin typeface="Calibri Light"/>
                <a:ea typeface="Calibri Light"/>
                <a:cs typeface="Calibri Light"/>
              </a:rPr>
              <a:t>(e.g., </a:t>
            </a:r>
            <a:r>
              <a:rPr lang="en-US" sz="1700" dirty="0" err="1">
                <a:latin typeface="Calibri Light"/>
                <a:ea typeface="Calibri Light"/>
                <a:cs typeface="Calibri Light"/>
              </a:rPr>
              <a:t>DaySinceLastOrder</a:t>
            </a:r>
            <a:r>
              <a:rPr lang="en-US" sz="1700" dirty="0">
                <a:latin typeface="Calibri Light"/>
                <a:ea typeface="Calibri Light"/>
                <a:cs typeface="Calibri Light"/>
              </a:rPr>
              <a:t> at 5.5%, Tenure at 4.7%)</a:t>
            </a:r>
            <a:r>
              <a:rPr lang="en-US" sz="2200" dirty="0">
                <a:latin typeface="Calibri Light"/>
                <a:ea typeface="Calibri Light"/>
                <a:cs typeface="Calibri Light"/>
              </a:rPr>
              <a:t> </a:t>
            </a:r>
            <a:r>
              <a:rPr lang="en-US" sz="2200" dirty="0">
                <a:ea typeface="+mn-lt"/>
                <a:cs typeface="+mn-lt"/>
              </a:rPr>
              <a:t>→</a:t>
            </a:r>
            <a:r>
              <a:rPr lang="en-US" sz="2200" dirty="0">
                <a:latin typeface="Calibri Light"/>
                <a:ea typeface="Calibri Light"/>
                <a:cs typeface="Calibri Light"/>
              </a:rPr>
              <a:t> suitable for median imputation.</a:t>
            </a:r>
            <a:br>
              <a:rPr lang="en-US" sz="2200" dirty="0">
                <a:latin typeface="Calibri Light"/>
                <a:ea typeface="Calibri Light"/>
                <a:cs typeface="Calibri Light"/>
              </a:rPr>
            </a:br>
            <a:endParaRPr lang="en-US" sz="2200" dirty="0">
              <a:latin typeface="Calibri Light"/>
              <a:ea typeface="Calibri Light"/>
              <a:cs typeface="Calibri Light"/>
            </a:endParaRPr>
          </a:p>
          <a:p>
            <a:pPr marL="285750" indent="-285750">
              <a:buFont typeface="Arial"/>
              <a:buChar char="•"/>
            </a:pPr>
            <a:r>
              <a:rPr lang="en-US" sz="2200" b="1" dirty="0">
                <a:latin typeface="Calibri"/>
                <a:ea typeface="Calibri"/>
                <a:cs typeface="Calibri"/>
              </a:rPr>
              <a:t>Key Finding</a:t>
            </a:r>
            <a:r>
              <a:rPr lang="en-US" sz="2200" b="1" dirty="0">
                <a:latin typeface="Calibri Light"/>
                <a:ea typeface="Calibri Light"/>
                <a:cs typeface="Calibri Light"/>
              </a:rPr>
              <a:t>:</a:t>
            </a:r>
            <a:r>
              <a:rPr lang="en-US" sz="2200" dirty="0">
                <a:latin typeface="Calibri Light"/>
                <a:ea typeface="Calibri Light"/>
                <a:cs typeface="Calibri Light"/>
              </a:rPr>
              <a:t> Churned users leave early </a:t>
            </a:r>
            <a:r>
              <a:rPr lang="en-US" sz="1700" dirty="0">
                <a:latin typeface="Calibri Light"/>
                <a:ea typeface="Calibri Light"/>
                <a:cs typeface="Calibri Light"/>
              </a:rPr>
              <a:t>(median tenure of </a:t>
            </a:r>
            <a:r>
              <a:rPr lang="en-US" sz="1700" b="1" dirty="0">
                <a:latin typeface="Calibri Light"/>
                <a:ea typeface="Calibri Light"/>
                <a:cs typeface="Calibri Light"/>
              </a:rPr>
              <a:t>1–2 months</a:t>
            </a:r>
            <a:r>
              <a:rPr lang="en-US" sz="1700" dirty="0">
                <a:latin typeface="Calibri Light"/>
                <a:ea typeface="Calibri Light"/>
                <a:cs typeface="Calibri Light"/>
              </a:rPr>
              <a:t> vs. </a:t>
            </a:r>
            <a:r>
              <a:rPr lang="en-US" sz="1700" b="1" dirty="0">
                <a:latin typeface="Calibri Light"/>
                <a:ea typeface="Calibri Light"/>
                <a:cs typeface="Calibri Light"/>
              </a:rPr>
              <a:t>9+ months</a:t>
            </a:r>
            <a:r>
              <a:rPr lang="en-US" sz="1700" dirty="0">
                <a:latin typeface="Calibri Light"/>
                <a:ea typeface="Calibri Light"/>
                <a:cs typeface="Calibri Light"/>
              </a:rPr>
              <a:t> for active users)</a:t>
            </a:r>
            <a:r>
              <a:rPr lang="en-US" sz="2200" dirty="0">
                <a:latin typeface="Calibri Light"/>
                <a:ea typeface="Calibri Light"/>
                <a:cs typeface="Calibri Light"/>
              </a:rPr>
              <a:t> and file </a:t>
            </a:r>
            <a:r>
              <a:rPr lang="en-US" sz="2200" b="1" dirty="0">
                <a:latin typeface="Calibri Light"/>
                <a:ea typeface="Calibri Light"/>
                <a:cs typeface="Calibri Light"/>
              </a:rPr>
              <a:t>2x more complaints</a:t>
            </a:r>
            <a:r>
              <a:rPr lang="en-US" sz="2200" dirty="0">
                <a:latin typeface="Calibri Light"/>
                <a:ea typeface="Calibri Light"/>
                <a:cs typeface="Calibri Light"/>
              </a:rPr>
              <a:t>.</a:t>
            </a:r>
          </a:p>
          <a:p>
            <a:pPr algn="l"/>
            <a:endParaRPr lang="en-US" sz="2200" dirty="0">
              <a:latin typeface="Calibri Light"/>
              <a:ea typeface="Calibri Light"/>
              <a:cs typeface="Calibri Light"/>
            </a:endParaRPr>
          </a:p>
        </p:txBody>
      </p:sp>
      <p:graphicFrame>
        <p:nvGraphicFramePr>
          <p:cNvPr id="6" name="Table 5">
            <a:extLst>
              <a:ext uri="{FF2B5EF4-FFF2-40B4-BE49-F238E27FC236}">
                <a16:creationId xmlns:a16="http://schemas.microsoft.com/office/drawing/2014/main" id="{1C83C912-E99C-B99E-A12D-BB5F538578E6}"/>
              </a:ext>
            </a:extLst>
          </p:cNvPr>
          <p:cNvGraphicFramePr>
            <a:graphicFrameLocks noGrp="1"/>
          </p:cNvGraphicFramePr>
          <p:nvPr>
            <p:extLst>
              <p:ext uri="{D42A27DB-BD31-4B8C-83A1-F6EECF244321}">
                <p14:modId xmlns:p14="http://schemas.microsoft.com/office/powerpoint/2010/main" val="3618192518"/>
              </p:ext>
            </p:extLst>
          </p:nvPr>
        </p:nvGraphicFramePr>
        <p:xfrm>
          <a:off x="129153" y="1711271"/>
          <a:ext cx="5966840" cy="3739782"/>
        </p:xfrm>
        <a:graphic>
          <a:graphicData uri="http://schemas.openxmlformats.org/drawingml/2006/table">
            <a:tbl>
              <a:tblPr bandRow="1">
                <a:tableStyleId>{5C22544A-7EE6-4342-B048-85BDC9FD1C3A}</a:tableStyleId>
              </a:tblPr>
              <a:tblGrid>
                <a:gridCol w="2983420">
                  <a:extLst>
                    <a:ext uri="{9D8B030D-6E8A-4147-A177-3AD203B41FA5}">
                      <a16:colId xmlns:a16="http://schemas.microsoft.com/office/drawing/2014/main" val="1480528020"/>
                    </a:ext>
                  </a:extLst>
                </a:gridCol>
                <a:gridCol w="2983420">
                  <a:extLst>
                    <a:ext uri="{9D8B030D-6E8A-4147-A177-3AD203B41FA5}">
                      <a16:colId xmlns:a16="http://schemas.microsoft.com/office/drawing/2014/main" val="1659050178"/>
                    </a:ext>
                  </a:extLst>
                </a:gridCol>
              </a:tblGrid>
              <a:tr h="623297">
                <a:tc>
                  <a:txBody>
                    <a:bodyPr/>
                    <a:lstStyle/>
                    <a:p>
                      <a:pPr marL="0" marR="0" rtl="0">
                        <a:spcAft>
                          <a:spcPts val="2400"/>
                        </a:spcAft>
                        <a:buNone/>
                      </a:pPr>
                      <a:r>
                        <a:rPr lang="en-US" b="1" dirty="0">
                          <a:solidFill>
                            <a:srgbClr val="1F1F1F"/>
                          </a:solidFill>
                          <a:effectLst/>
                          <a:latin typeface="Google Sans Text"/>
                        </a:rPr>
                        <a:t>Metric</a:t>
                      </a:r>
                      <a:endParaRPr lang="en-US"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dirty="0">
                          <a:solidFill>
                            <a:srgbClr val="1F1F1F"/>
                          </a:solidFill>
                          <a:effectLst/>
                          <a:latin typeface="Google Sans Text"/>
                        </a:rPr>
                        <a:t>Value</a:t>
                      </a:r>
                      <a:endParaRPr lang="en-US"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38796992"/>
                  </a:ext>
                </a:extLst>
              </a:tr>
              <a:tr h="623297">
                <a:tc>
                  <a:txBody>
                    <a:bodyPr/>
                    <a:lstStyle/>
                    <a:p>
                      <a:pPr marL="0" marR="0" rtl="0">
                        <a:spcAft>
                          <a:spcPts val="2400"/>
                        </a:spcAft>
                        <a:buNone/>
                      </a:pPr>
                      <a:r>
                        <a:rPr lang="en-US" b="1" dirty="0">
                          <a:solidFill>
                            <a:srgbClr val="1F1F1F"/>
                          </a:solidFill>
                          <a:effectLst/>
                          <a:latin typeface="Google Sans Text"/>
                        </a:rPr>
                        <a:t>Total Records</a:t>
                      </a:r>
                      <a:endParaRPr lang="en-US"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dirty="0">
                          <a:solidFill>
                            <a:srgbClr val="1F1F1F"/>
                          </a:solidFill>
                          <a:effectLst/>
                          <a:latin typeface="Google Sans Text"/>
                        </a:rPr>
                        <a:t>5,630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686512741"/>
                  </a:ext>
                </a:extLst>
              </a:tr>
              <a:tr h="623297">
                <a:tc>
                  <a:txBody>
                    <a:bodyPr/>
                    <a:lstStyle/>
                    <a:p>
                      <a:pPr marL="0" marR="0" rtl="0">
                        <a:spcAft>
                          <a:spcPts val="2400"/>
                        </a:spcAft>
                        <a:buNone/>
                      </a:pPr>
                      <a:r>
                        <a:rPr lang="en-US" b="1" dirty="0">
                          <a:solidFill>
                            <a:srgbClr val="1F1F1F"/>
                          </a:solidFill>
                          <a:effectLst/>
                          <a:latin typeface="Google Sans Text"/>
                        </a:rPr>
                        <a:t>Duplicates</a:t>
                      </a:r>
                      <a:endParaRPr lang="en-US"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dirty="0">
                          <a:solidFill>
                            <a:srgbClr val="1F1F1F"/>
                          </a:solidFill>
                          <a:effectLst/>
                          <a:latin typeface="Google Sans Text"/>
                        </a:rPr>
                        <a:t>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863225462"/>
                  </a:ext>
                </a:extLst>
              </a:tr>
              <a:tr h="623297">
                <a:tc>
                  <a:txBody>
                    <a:bodyPr/>
                    <a:lstStyle/>
                    <a:p>
                      <a:pPr marL="0" marR="0" rtl="0">
                        <a:spcAft>
                          <a:spcPts val="2400"/>
                        </a:spcAft>
                        <a:buNone/>
                      </a:pPr>
                      <a:r>
                        <a:rPr lang="en-US" b="1" dirty="0">
                          <a:solidFill>
                            <a:srgbClr val="1F1F1F"/>
                          </a:solidFill>
                          <a:effectLst/>
                          <a:latin typeface="Google Sans Text"/>
                        </a:rPr>
                        <a:t>Features / Target</a:t>
                      </a:r>
                      <a:endParaRPr lang="en-US"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dirty="0">
                          <a:solidFill>
                            <a:srgbClr val="1F1F1F"/>
                          </a:solidFill>
                          <a:effectLst/>
                          <a:latin typeface="Google Sans Text"/>
                        </a:rPr>
                        <a:t>19 / 1 </a:t>
                      </a:r>
                      <a:r>
                        <a:rPr lang="en-US" sz="1500" dirty="0">
                          <a:solidFill>
                            <a:srgbClr val="1F1F1F"/>
                          </a:solidFill>
                          <a:effectLst/>
                          <a:latin typeface="Google Sans Text"/>
                        </a:rPr>
                        <a:t>(</a:t>
                      </a:r>
                      <a:r>
                        <a:rPr lang="en-US" sz="1500" b="0" i="0" dirty="0">
                          <a:solidFill>
                            <a:srgbClr val="1F1F1F"/>
                          </a:solidFill>
                          <a:effectLst/>
                          <a:latin typeface="Google Sans Text"/>
                        </a:rPr>
                        <a:t>Churn</a:t>
                      </a:r>
                      <a:r>
                        <a:rPr lang="en-US" sz="1500" dirty="0">
                          <a:solidFill>
                            <a:srgbClr val="1F1F1F"/>
                          </a:solidFill>
                          <a:effectLst/>
                          <a:latin typeface="Google Sans Text"/>
                        </a:rPr>
                        <a:t>)</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357175813"/>
                  </a:ext>
                </a:extLst>
              </a:tr>
              <a:tr h="623297">
                <a:tc>
                  <a:txBody>
                    <a:bodyPr/>
                    <a:lstStyle/>
                    <a:p>
                      <a:pPr marL="0" marR="0" rtl="0">
                        <a:spcAft>
                          <a:spcPts val="2400"/>
                        </a:spcAft>
                        <a:buNone/>
                      </a:pPr>
                      <a:r>
                        <a:rPr lang="en-US" b="1" dirty="0">
                          <a:solidFill>
                            <a:srgbClr val="1F1F1F"/>
                          </a:solidFill>
                          <a:effectLst/>
                          <a:latin typeface="Google Sans Text"/>
                        </a:rPr>
                        <a:t>Missing Values</a:t>
                      </a:r>
                      <a:endParaRPr lang="en-US"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dirty="0">
                          <a:solidFill>
                            <a:srgbClr val="1F1F1F"/>
                          </a:solidFill>
                          <a:effectLst/>
                          <a:latin typeface="Google Sans Text"/>
                        </a:rPr>
                        <a:t>7 columns (&lt;6% each)</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209323372"/>
                  </a:ext>
                </a:extLst>
              </a:tr>
              <a:tr h="623297">
                <a:tc>
                  <a:txBody>
                    <a:bodyPr/>
                    <a:lstStyle/>
                    <a:p>
                      <a:pPr marL="0" marR="0" rtl="0">
                        <a:spcAft>
                          <a:spcPts val="2400"/>
                        </a:spcAft>
                        <a:buNone/>
                      </a:pPr>
                      <a:r>
                        <a:rPr lang="en-US" b="1" dirty="0">
                          <a:solidFill>
                            <a:srgbClr val="1F1F1F"/>
                          </a:solidFill>
                          <a:effectLst/>
                          <a:latin typeface="Google Sans Text"/>
                        </a:rPr>
                        <a:t>Class Split</a:t>
                      </a:r>
                      <a:endParaRPr lang="en-US"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dirty="0">
                          <a:solidFill>
                            <a:srgbClr val="1F1F1F"/>
                          </a:solidFill>
                          <a:effectLst/>
                          <a:latin typeface="Google Sans Text"/>
                        </a:rPr>
                        <a:t>83% Active / 17% Churned</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6645435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lIns="91440" tIns="45720" rIns="91440" bIns="45720" rtlCol="0" anchor="t">
            <a:spAutoFit/>
          </a:bodyPr>
          <a:lstStyle/>
          <a:p>
            <a:pPr algn="ctr"/>
            <a:r>
              <a:rPr lang="en-US" sz="3200" b="1" dirty="0">
                <a:solidFill>
                  <a:schemeClr val="bg1"/>
                </a:solidFill>
              </a:rPr>
              <a:t>Data Preprocessing</a:t>
            </a:r>
          </a:p>
        </p:txBody>
      </p:sp>
      <p:sp>
        <p:nvSpPr>
          <p:cNvPr id="4" name="TextBox 3">
            <a:extLst>
              <a:ext uri="{FF2B5EF4-FFF2-40B4-BE49-F238E27FC236}">
                <a16:creationId xmlns:a16="http://schemas.microsoft.com/office/drawing/2014/main" id="{1103A7CF-9023-691A-30D2-3BD78E87E176}"/>
              </a:ext>
            </a:extLst>
          </p:cNvPr>
          <p:cNvSpPr txBox="1"/>
          <p:nvPr/>
        </p:nvSpPr>
        <p:spPr>
          <a:xfrm>
            <a:off x="5848779" y="1112643"/>
            <a:ext cx="6250983"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200" b="1" dirty="0">
                <a:ea typeface="+mn-lt"/>
                <a:cs typeface="+mn-lt"/>
              </a:rPr>
              <a:t>Missing Values:</a:t>
            </a:r>
            <a:r>
              <a:rPr lang="en-US" sz="2200" dirty="0">
                <a:ea typeface="+mn-lt"/>
                <a:cs typeface="+mn-lt"/>
              </a:rPr>
              <a:t> Filled blank spaces using middle values (median) so the AI doesn't get confused.</a:t>
            </a:r>
            <a:br>
              <a:rPr lang="en-US" sz="2200" dirty="0">
                <a:ea typeface="+mn-lt"/>
                <a:cs typeface="+mn-lt"/>
              </a:rPr>
            </a:br>
            <a:endParaRPr lang="en-US" sz="2200" dirty="0">
              <a:ea typeface="Calibri"/>
              <a:cs typeface="Calibri"/>
            </a:endParaRPr>
          </a:p>
          <a:p>
            <a:pPr marL="285750" indent="-285750">
              <a:buFont typeface="Arial"/>
              <a:buChar char="•"/>
            </a:pPr>
            <a:r>
              <a:rPr lang="en-US" sz="2200" b="1" dirty="0">
                <a:ea typeface="+mn-lt"/>
                <a:cs typeface="+mn-lt"/>
              </a:rPr>
              <a:t>Duplicates &amp; Typos:</a:t>
            </a:r>
            <a:r>
              <a:rPr lang="en-US" sz="2200" dirty="0">
                <a:ea typeface="+mn-lt"/>
                <a:cs typeface="+mn-lt"/>
              </a:rPr>
              <a:t> Removed duplicate rows and fixed spelling mistakes (for example, merged "Phone" and "Mobile Phone").</a:t>
            </a:r>
            <a:br>
              <a:rPr lang="en-US" sz="2200" dirty="0">
                <a:ea typeface="+mn-lt"/>
                <a:cs typeface="+mn-lt"/>
              </a:rPr>
            </a:br>
            <a:endParaRPr lang="en-US" sz="2200" dirty="0">
              <a:ea typeface="Calibri"/>
              <a:cs typeface="Calibri"/>
            </a:endParaRPr>
          </a:p>
          <a:p>
            <a:pPr marL="285750" indent="-285750">
              <a:buFont typeface="Arial"/>
              <a:buChar char="•"/>
            </a:pPr>
            <a:r>
              <a:rPr lang="en-US" sz="2200" b="1" dirty="0">
                <a:ea typeface="+mn-lt"/>
                <a:cs typeface="+mn-lt"/>
              </a:rPr>
              <a:t>Extreme Numbers (Outliers):</a:t>
            </a:r>
            <a:r>
              <a:rPr lang="en-US" sz="2200" dirty="0">
                <a:ea typeface="+mn-lt"/>
                <a:cs typeface="+mn-lt"/>
              </a:rPr>
              <a:t> Fixed weird, crazy numbers (like a delivery distance of 120 km) by capping them at normal limits.</a:t>
            </a:r>
            <a:br>
              <a:rPr lang="en-US" sz="2200" dirty="0">
                <a:ea typeface="+mn-lt"/>
                <a:cs typeface="+mn-lt"/>
              </a:rPr>
            </a:br>
            <a:endParaRPr lang="en-US" sz="2200" dirty="0">
              <a:ea typeface="Calibri"/>
              <a:cs typeface="Calibri"/>
            </a:endParaRPr>
          </a:p>
          <a:p>
            <a:pPr marL="285750" indent="-285750">
              <a:buFont typeface="Arial"/>
              <a:buChar char="•"/>
            </a:pPr>
            <a:r>
              <a:rPr lang="en-US" sz="2200" b="1" dirty="0">
                <a:ea typeface="+mn-lt"/>
                <a:cs typeface="+mn-lt"/>
              </a:rPr>
              <a:t>Text to Numbers (Encoding):</a:t>
            </a:r>
            <a:r>
              <a:rPr lang="en-US" sz="2200" dirty="0">
                <a:ea typeface="+mn-lt"/>
                <a:cs typeface="+mn-lt"/>
              </a:rPr>
              <a:t> Computers only understand numbers, so words like "Male", "Female", "Single", and "Married" were changed into </a:t>
            </a:r>
            <a:r>
              <a:rPr lang="en-US" sz="2200" dirty="0">
                <a:latin typeface="Consolas"/>
              </a:rPr>
              <a:t>0</a:t>
            </a:r>
            <a:r>
              <a:rPr lang="en-US" sz="2200" dirty="0">
                <a:ea typeface="+mn-lt"/>
                <a:cs typeface="+mn-lt"/>
              </a:rPr>
              <a:t>s and </a:t>
            </a:r>
            <a:r>
              <a:rPr lang="en-US" sz="2200" dirty="0">
                <a:latin typeface="Consolas"/>
              </a:rPr>
              <a:t>1</a:t>
            </a:r>
            <a:r>
              <a:rPr lang="en-US" sz="2200" dirty="0">
                <a:ea typeface="+mn-lt"/>
                <a:cs typeface="+mn-lt"/>
              </a:rPr>
              <a:t>s.</a:t>
            </a:r>
            <a:endParaRPr lang="en-US" sz="2200" dirty="0">
              <a:ea typeface="Calibri"/>
              <a:cs typeface="Calibri"/>
            </a:endParaRPr>
          </a:p>
          <a:p>
            <a:pPr algn="l"/>
            <a:endParaRPr lang="en-US" sz="2200" dirty="0">
              <a:ea typeface="Calibri"/>
              <a:cs typeface="Calibri"/>
            </a:endParaRPr>
          </a:p>
        </p:txBody>
      </p:sp>
      <p:pic>
        <p:nvPicPr>
          <p:cNvPr id="5" name="Picture 4">
            <a:extLst>
              <a:ext uri="{FF2B5EF4-FFF2-40B4-BE49-F238E27FC236}">
                <a16:creationId xmlns:a16="http://schemas.microsoft.com/office/drawing/2014/main" id="{0EA42858-C433-719C-6563-99C21A3A82DE}"/>
              </a:ext>
            </a:extLst>
          </p:cNvPr>
          <p:cNvPicPr>
            <a:picLocks noChangeAspect="1"/>
          </p:cNvPicPr>
          <p:nvPr/>
        </p:nvPicPr>
        <p:blipFill>
          <a:blip r:embed="rId2"/>
          <a:srcRect l="22703" t="6392" r="22178" b="-88"/>
          <a:stretch>
            <a:fillRect/>
          </a:stretch>
        </p:blipFill>
        <p:spPr>
          <a:xfrm>
            <a:off x="1740000" y="966000"/>
            <a:ext cx="2316005" cy="5891631"/>
          </a:xfrm>
          <a:prstGeom prst="rect">
            <a:avLst/>
          </a:prstGeom>
        </p:spPr>
      </p:pic>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C9F3341-00B0-D876-B7F4-393226AA11EC}"/>
              </a:ext>
            </a:extLst>
          </p:cNvPr>
          <p:cNvPicPr>
            <a:picLocks noChangeAspect="1"/>
          </p:cNvPicPr>
          <p:nvPr/>
        </p:nvPicPr>
        <p:blipFill>
          <a:blip r:embed="rId2"/>
          <a:stretch>
            <a:fillRect/>
          </a:stretch>
        </p:blipFill>
        <p:spPr>
          <a:xfrm>
            <a:off x="-2325" y="845175"/>
            <a:ext cx="3052650" cy="2545650"/>
          </a:xfrm>
          <a:prstGeom prst="rect">
            <a:avLst/>
          </a:prstGeom>
        </p:spPr>
      </p:pic>
      <p:sp>
        <p:nvSpPr>
          <p:cNvPr id="2" name="Rectangle: Rounded Corners 1"/>
          <p:cNvSpPr/>
          <p:nvPr/>
        </p:nvSpPr>
        <p:spPr>
          <a:xfrm>
            <a:off x="2767465" y="202301"/>
            <a:ext cx="6766849" cy="56889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lIns="91440" tIns="45720" rIns="91440" bIns="45720" rtlCol="0" anchor="t">
            <a:spAutoFit/>
          </a:bodyPr>
          <a:lstStyle/>
          <a:p>
            <a:pPr algn="ctr"/>
            <a:r>
              <a:rPr lang="en-US" sz="3200" b="1" dirty="0">
                <a:solidFill>
                  <a:schemeClr val="bg1"/>
                </a:solidFill>
              </a:rPr>
              <a:t>Feature Selection / Feature Engineering</a:t>
            </a:r>
          </a:p>
        </p:txBody>
      </p:sp>
      <p:sp>
        <p:nvSpPr>
          <p:cNvPr id="4" name="TextBox 3">
            <a:extLst>
              <a:ext uri="{FF2B5EF4-FFF2-40B4-BE49-F238E27FC236}">
                <a16:creationId xmlns:a16="http://schemas.microsoft.com/office/drawing/2014/main" id="{0FEA633F-9F84-3D8F-6AD4-259C9D6CB9B4}"/>
              </a:ext>
            </a:extLst>
          </p:cNvPr>
          <p:cNvSpPr txBox="1"/>
          <p:nvPr/>
        </p:nvSpPr>
        <p:spPr>
          <a:xfrm>
            <a:off x="426203" y="1123627"/>
            <a:ext cx="11559152"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ea typeface="+mn-lt"/>
                <a:cs typeface="+mn-lt"/>
              </a:rPr>
              <a:t>Features Removed (Dropped):</a:t>
            </a:r>
            <a:endParaRPr lang="en-US" sz="2200" dirty="0">
              <a:ea typeface="Calibri"/>
              <a:cs typeface="Calibri"/>
            </a:endParaRPr>
          </a:p>
          <a:p>
            <a:pPr marL="285750" indent="-285750">
              <a:buFont typeface="Arial"/>
              <a:buChar char="•"/>
            </a:pPr>
            <a:r>
              <a:rPr lang="en-US" sz="2000" dirty="0" err="1">
                <a:latin typeface="Consolas"/>
              </a:rPr>
              <a:t>CustomerID</a:t>
            </a:r>
            <a:r>
              <a:rPr lang="en-US" sz="2000" dirty="0">
                <a:ea typeface="+mn-lt"/>
                <a:cs typeface="+mn-lt"/>
              </a:rPr>
              <a:t>: Unique identifier with zero predictive value (causes data leakage/overfitting).</a:t>
            </a:r>
            <a:br>
              <a:rPr lang="en-US" sz="2000" dirty="0">
                <a:ea typeface="+mn-lt"/>
                <a:cs typeface="+mn-lt"/>
              </a:rPr>
            </a:br>
            <a:endParaRPr lang="en-US" sz="2000" dirty="0">
              <a:ea typeface="Calibri"/>
              <a:cs typeface="Calibri"/>
            </a:endParaRPr>
          </a:p>
          <a:p>
            <a:r>
              <a:rPr lang="en-US" sz="2200" b="1" dirty="0">
                <a:ea typeface="+mn-lt"/>
                <a:cs typeface="+mn-lt"/>
              </a:rPr>
              <a:t>New Features Created (Feature Engineering):</a:t>
            </a:r>
            <a:endParaRPr lang="en-US" sz="2200" dirty="0">
              <a:ea typeface="Calibri"/>
              <a:cs typeface="Calibri"/>
            </a:endParaRPr>
          </a:p>
          <a:p>
            <a:pPr marL="285750" indent="-285750">
              <a:buFont typeface="Arial"/>
              <a:buChar char="•"/>
            </a:pPr>
            <a:r>
              <a:rPr lang="en-US" sz="2000" dirty="0" err="1">
                <a:latin typeface="Consolas"/>
              </a:rPr>
              <a:t>OrderPerDay</a:t>
            </a:r>
            <a:r>
              <a:rPr lang="en-US" sz="2000" dirty="0">
                <a:latin typeface="Consolas"/>
              </a:rPr>
              <a:t> = </a:t>
            </a:r>
            <a:r>
              <a:rPr lang="en-US" sz="2000" b="1" dirty="0" err="1">
                <a:latin typeface="Consolas"/>
              </a:rPr>
              <a:t>OrderCount</a:t>
            </a:r>
            <a:r>
              <a:rPr lang="en-US" sz="2000" b="1" dirty="0">
                <a:latin typeface="Consolas"/>
              </a:rPr>
              <a:t> / (</a:t>
            </a:r>
            <a:r>
              <a:rPr lang="en-US" sz="2000" b="1" dirty="0" err="1">
                <a:latin typeface="Consolas"/>
              </a:rPr>
              <a:t>DaySinceLastOrder</a:t>
            </a:r>
            <a:r>
              <a:rPr lang="en-US" sz="2000" b="1" dirty="0">
                <a:latin typeface="Consolas"/>
              </a:rPr>
              <a:t> + 1)</a:t>
            </a:r>
            <a:r>
              <a:rPr lang="en-US" sz="2000" dirty="0">
                <a:ea typeface="+mn-lt"/>
                <a:cs typeface="+mn-lt"/>
              </a:rPr>
              <a:t>: Measures current purchasing velocity.</a:t>
            </a:r>
            <a:endParaRPr lang="en-US" sz="2000" dirty="0">
              <a:ea typeface="Calibri"/>
              <a:cs typeface="Calibri"/>
            </a:endParaRPr>
          </a:p>
          <a:p>
            <a:pPr marL="285750" indent="-285750">
              <a:buFont typeface="Arial"/>
              <a:buChar char="•"/>
            </a:pPr>
            <a:r>
              <a:rPr lang="en-US" sz="2000" dirty="0" err="1">
                <a:latin typeface="Consolas"/>
              </a:rPr>
              <a:t>ComplainPerTenure</a:t>
            </a:r>
            <a:r>
              <a:rPr lang="en-US" sz="2000" dirty="0">
                <a:latin typeface="Consolas"/>
              </a:rPr>
              <a:t> = </a:t>
            </a:r>
            <a:r>
              <a:rPr lang="en-US" sz="2000" b="1" dirty="0">
                <a:latin typeface="Consolas"/>
              </a:rPr>
              <a:t>Complain / (Tenure + 1)</a:t>
            </a:r>
            <a:r>
              <a:rPr lang="en-US" sz="2000" dirty="0">
                <a:ea typeface="+mn-lt"/>
                <a:cs typeface="+mn-lt"/>
              </a:rPr>
              <a:t>: Measures dissatisfaction intensity relative to customer lifespan.</a:t>
            </a:r>
            <a:endParaRPr lang="en-US" sz="2000" dirty="0">
              <a:ea typeface="Calibri"/>
              <a:cs typeface="Calibri"/>
            </a:endParaRPr>
          </a:p>
          <a:p>
            <a:pPr marL="285750" indent="-285750">
              <a:buFont typeface="Arial"/>
              <a:buChar char="•"/>
            </a:pPr>
            <a:r>
              <a:rPr lang="en-US" sz="2000" dirty="0" err="1">
                <a:latin typeface="Consolas"/>
              </a:rPr>
              <a:t>IsNewCustomer</a:t>
            </a:r>
            <a:r>
              <a:rPr lang="en-US" sz="2000" dirty="0">
                <a:latin typeface="Consolas"/>
              </a:rPr>
              <a:t> = </a:t>
            </a:r>
            <a:r>
              <a:rPr lang="en-US" sz="2000" b="1" dirty="0">
                <a:latin typeface="Consolas"/>
              </a:rPr>
              <a:t>(Tenure &lt;= 2)</a:t>
            </a:r>
            <a:r>
              <a:rPr lang="en-US" sz="2000" dirty="0">
                <a:ea typeface="+mn-lt"/>
                <a:cs typeface="+mn-lt"/>
              </a:rPr>
              <a:t>: Binary flag targeting the highest-risk churn period identified during EDA.</a:t>
            </a:r>
            <a:br>
              <a:rPr lang="en-US" sz="2000" dirty="0">
                <a:ea typeface="+mn-lt"/>
                <a:cs typeface="+mn-lt"/>
              </a:rPr>
            </a:br>
            <a:endParaRPr lang="en-US" sz="2000" dirty="0">
              <a:ea typeface="Calibri"/>
              <a:cs typeface="Calibri"/>
            </a:endParaRPr>
          </a:p>
          <a:p>
            <a:r>
              <a:rPr lang="en-US" sz="2200" b="1" dirty="0">
                <a:ea typeface="+mn-lt"/>
                <a:cs typeface="+mn-lt"/>
              </a:rPr>
              <a:t>Features Selected &amp; Retained (Input Predictors):</a:t>
            </a:r>
            <a:endParaRPr lang="en-US" sz="2200" dirty="0">
              <a:ea typeface="Calibri"/>
              <a:cs typeface="Calibri"/>
            </a:endParaRPr>
          </a:p>
          <a:p>
            <a:pPr marL="285750" indent="-285750">
              <a:buFont typeface="Arial"/>
              <a:buChar char="•"/>
            </a:pPr>
            <a:r>
              <a:rPr lang="en-US" sz="2000" b="1" dirty="0">
                <a:ea typeface="+mn-lt"/>
                <a:cs typeface="+mn-lt"/>
              </a:rPr>
              <a:t>Behavioral:</a:t>
            </a:r>
            <a:r>
              <a:rPr lang="en-US" sz="2000" dirty="0">
                <a:ea typeface="+mn-lt"/>
                <a:cs typeface="+mn-lt"/>
              </a:rPr>
              <a:t> </a:t>
            </a:r>
            <a:r>
              <a:rPr lang="en-US" sz="2000" dirty="0">
                <a:latin typeface="Consolas"/>
              </a:rPr>
              <a:t>Tenure</a:t>
            </a:r>
            <a:r>
              <a:rPr lang="en-US" sz="2000" dirty="0">
                <a:ea typeface="+mn-lt"/>
                <a:cs typeface="+mn-lt"/>
              </a:rPr>
              <a:t>, </a:t>
            </a:r>
            <a:r>
              <a:rPr lang="en-US" sz="2000" dirty="0" err="1">
                <a:latin typeface="Consolas"/>
              </a:rPr>
              <a:t>DaySinceLastOrder</a:t>
            </a:r>
            <a:r>
              <a:rPr lang="en-US" sz="2000" dirty="0">
                <a:ea typeface="+mn-lt"/>
                <a:cs typeface="+mn-lt"/>
              </a:rPr>
              <a:t>, </a:t>
            </a:r>
            <a:r>
              <a:rPr lang="en-US" sz="2000" dirty="0" err="1">
                <a:latin typeface="Consolas"/>
              </a:rPr>
              <a:t>OrderCount</a:t>
            </a:r>
            <a:r>
              <a:rPr lang="en-US" sz="2000" dirty="0">
                <a:ea typeface="+mn-lt"/>
                <a:cs typeface="+mn-lt"/>
              </a:rPr>
              <a:t>, </a:t>
            </a:r>
            <a:r>
              <a:rPr lang="en-US" sz="2000" dirty="0" err="1">
                <a:latin typeface="Consolas"/>
              </a:rPr>
              <a:t>CashbackAmount</a:t>
            </a:r>
            <a:r>
              <a:rPr lang="en-US" sz="2000" dirty="0">
                <a:ea typeface="+mn-lt"/>
                <a:cs typeface="+mn-lt"/>
              </a:rPr>
              <a:t>, </a:t>
            </a:r>
            <a:r>
              <a:rPr lang="en-US" sz="2000" dirty="0" err="1">
                <a:latin typeface="Consolas"/>
              </a:rPr>
              <a:t>OrderAmountHikeFromlastYear</a:t>
            </a:r>
            <a:r>
              <a:rPr lang="en-US" sz="2000" dirty="0">
                <a:ea typeface="+mn-lt"/>
                <a:cs typeface="+mn-lt"/>
              </a:rPr>
              <a:t>.</a:t>
            </a:r>
            <a:endParaRPr lang="en-US" sz="2000" dirty="0">
              <a:ea typeface="Calibri"/>
              <a:cs typeface="Calibri"/>
            </a:endParaRPr>
          </a:p>
          <a:p>
            <a:pPr marL="285750" indent="-285750">
              <a:buFont typeface="Arial"/>
              <a:buChar char="•"/>
            </a:pPr>
            <a:r>
              <a:rPr lang="en-US" sz="2000" b="1" dirty="0">
                <a:ea typeface="+mn-lt"/>
                <a:cs typeface="+mn-lt"/>
              </a:rPr>
              <a:t>Customer Service:</a:t>
            </a:r>
            <a:r>
              <a:rPr lang="en-US" sz="2000" dirty="0">
                <a:ea typeface="+mn-lt"/>
                <a:cs typeface="+mn-lt"/>
              </a:rPr>
              <a:t> </a:t>
            </a:r>
            <a:r>
              <a:rPr lang="en-US" sz="2000" dirty="0">
                <a:latin typeface="Consolas"/>
              </a:rPr>
              <a:t>Complain</a:t>
            </a:r>
            <a:r>
              <a:rPr lang="en-US" sz="2000" dirty="0">
                <a:ea typeface="+mn-lt"/>
                <a:cs typeface="+mn-lt"/>
              </a:rPr>
              <a:t>, </a:t>
            </a:r>
            <a:r>
              <a:rPr lang="en-US" sz="2000" dirty="0" err="1">
                <a:latin typeface="Consolas"/>
              </a:rPr>
              <a:t>SatisfactionScore</a:t>
            </a:r>
            <a:r>
              <a:rPr lang="en-US" sz="2000" dirty="0">
                <a:ea typeface="+mn-lt"/>
                <a:cs typeface="+mn-lt"/>
              </a:rPr>
              <a:t>.</a:t>
            </a:r>
            <a:endParaRPr lang="en-US" sz="2000" dirty="0">
              <a:ea typeface="Calibri"/>
              <a:cs typeface="Calibri"/>
            </a:endParaRPr>
          </a:p>
          <a:p>
            <a:pPr marL="285750" indent="-285750">
              <a:buFont typeface="Arial"/>
              <a:buChar char="•"/>
            </a:pPr>
            <a:r>
              <a:rPr lang="en-US" sz="2000" b="1" dirty="0">
                <a:ea typeface="+mn-lt"/>
                <a:cs typeface="+mn-lt"/>
              </a:rPr>
              <a:t>Demographics &amp; Account:</a:t>
            </a:r>
            <a:r>
              <a:rPr lang="en-US" sz="2000" dirty="0">
                <a:ea typeface="+mn-lt"/>
                <a:cs typeface="+mn-lt"/>
              </a:rPr>
              <a:t> </a:t>
            </a:r>
            <a:r>
              <a:rPr lang="en-US" sz="2000" dirty="0" err="1">
                <a:latin typeface="Consolas"/>
              </a:rPr>
              <a:t>WarehouseToHome</a:t>
            </a:r>
            <a:r>
              <a:rPr lang="en-US" sz="2000" dirty="0">
                <a:ea typeface="+mn-lt"/>
                <a:cs typeface="+mn-lt"/>
              </a:rPr>
              <a:t>, </a:t>
            </a:r>
            <a:r>
              <a:rPr lang="en-US" sz="2000" dirty="0" err="1">
                <a:latin typeface="Consolas"/>
              </a:rPr>
              <a:t>MaritalStatus</a:t>
            </a:r>
            <a:r>
              <a:rPr lang="en-US" sz="2000" dirty="0">
                <a:ea typeface="+mn-lt"/>
                <a:cs typeface="+mn-lt"/>
              </a:rPr>
              <a:t>, </a:t>
            </a:r>
            <a:r>
              <a:rPr lang="en-US" sz="2000" dirty="0" err="1">
                <a:latin typeface="Consolas"/>
              </a:rPr>
              <a:t>PreferredPaymentMode</a:t>
            </a:r>
            <a:r>
              <a:rPr lang="en-US" sz="2000" dirty="0">
                <a:ea typeface="+mn-lt"/>
                <a:cs typeface="+mn-lt"/>
              </a:rPr>
              <a:t>, </a:t>
            </a:r>
            <a:r>
              <a:rPr lang="en-US" sz="2000" dirty="0" err="1">
                <a:latin typeface="Consolas"/>
              </a:rPr>
              <a:t>CityTier</a:t>
            </a:r>
            <a:r>
              <a:rPr lang="en-US" sz="2200" dirty="0">
                <a:ea typeface="+mn-lt"/>
                <a:cs typeface="+mn-lt"/>
              </a:rPr>
              <a:t>.</a:t>
            </a:r>
            <a:endParaRPr lang="en-US" sz="2200" dirty="0">
              <a:ea typeface="Calibri"/>
              <a:cs typeface="Calibri"/>
            </a:endParaRPr>
          </a:p>
          <a:p>
            <a:endParaRPr lang="en-US" sz="2200" dirty="0">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lIns="91440" tIns="45720" rIns="91440" bIns="45720" rtlCol="0" anchor="t">
            <a:spAutoFit/>
          </a:bodyPr>
          <a:lstStyle/>
          <a:p>
            <a:pPr algn="ctr"/>
            <a:r>
              <a:rPr lang="en-US" sz="3200" b="1" kern="0" dirty="0">
                <a:solidFill>
                  <a:schemeClr val="bg1"/>
                </a:solidFill>
              </a:rPr>
              <a:t>Train-Test Split</a:t>
            </a:r>
            <a:endParaRPr lang="en-US" sz="3200" b="1" dirty="0">
              <a:solidFill>
                <a:schemeClr val="bg1"/>
              </a:solidFill>
            </a:endParaRPr>
          </a:p>
        </p:txBody>
      </p:sp>
      <p:graphicFrame>
        <p:nvGraphicFramePr>
          <p:cNvPr id="6" name="Table 5">
            <a:extLst>
              <a:ext uri="{FF2B5EF4-FFF2-40B4-BE49-F238E27FC236}">
                <a16:creationId xmlns:a16="http://schemas.microsoft.com/office/drawing/2014/main" id="{53ABA816-F77A-F18B-D569-4BD9E960EBB0}"/>
              </a:ext>
            </a:extLst>
          </p:cNvPr>
          <p:cNvGraphicFramePr>
            <a:graphicFrameLocks noGrp="1"/>
          </p:cNvGraphicFramePr>
          <p:nvPr/>
        </p:nvGraphicFramePr>
        <p:xfrm>
          <a:off x="0" y="2377440"/>
          <a:ext cx="12192000" cy="2103120"/>
        </p:xfrm>
        <a:graphic>
          <a:graphicData uri="http://schemas.openxmlformats.org/drawingml/2006/table">
            <a:tbl>
              <a:tblPr bandRow="1">
                <a:tableStyleId>{5C22544A-7EE6-4342-B048-85BDC9FD1C3A}</a:tableStyleId>
              </a:tblPr>
              <a:tblGrid>
                <a:gridCol w="2438400">
                  <a:extLst>
                    <a:ext uri="{9D8B030D-6E8A-4147-A177-3AD203B41FA5}">
                      <a16:colId xmlns:a16="http://schemas.microsoft.com/office/drawing/2014/main" val="1077563518"/>
                    </a:ext>
                  </a:extLst>
                </a:gridCol>
                <a:gridCol w="2438400">
                  <a:extLst>
                    <a:ext uri="{9D8B030D-6E8A-4147-A177-3AD203B41FA5}">
                      <a16:colId xmlns:a16="http://schemas.microsoft.com/office/drawing/2014/main" val="1928869848"/>
                    </a:ext>
                  </a:extLst>
                </a:gridCol>
                <a:gridCol w="2438400">
                  <a:extLst>
                    <a:ext uri="{9D8B030D-6E8A-4147-A177-3AD203B41FA5}">
                      <a16:colId xmlns:a16="http://schemas.microsoft.com/office/drawing/2014/main" val="442058895"/>
                    </a:ext>
                  </a:extLst>
                </a:gridCol>
                <a:gridCol w="2438400">
                  <a:extLst>
                    <a:ext uri="{9D8B030D-6E8A-4147-A177-3AD203B41FA5}">
                      <a16:colId xmlns:a16="http://schemas.microsoft.com/office/drawing/2014/main" val="2196457558"/>
                    </a:ext>
                  </a:extLst>
                </a:gridCol>
                <a:gridCol w="2438400">
                  <a:extLst>
                    <a:ext uri="{9D8B030D-6E8A-4147-A177-3AD203B41FA5}">
                      <a16:colId xmlns:a16="http://schemas.microsoft.com/office/drawing/2014/main" val="666249575"/>
                    </a:ext>
                  </a:extLst>
                </a:gridCol>
              </a:tblGrid>
              <a:tr h="0">
                <a:tc>
                  <a:txBody>
                    <a:bodyPr/>
                    <a:lstStyle/>
                    <a:p>
                      <a:pPr marL="0" marR="0" rtl="0">
                        <a:spcAft>
                          <a:spcPts val="2400"/>
                        </a:spcAft>
                        <a:buNone/>
                      </a:pPr>
                      <a:r>
                        <a:rPr lang="en-US" b="1">
                          <a:solidFill>
                            <a:srgbClr val="1F1F1F"/>
                          </a:solidFill>
                          <a:effectLst/>
                          <a:latin typeface="Google Sans Text"/>
                        </a:rPr>
                        <a:t>Dataset Partition</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Proportion</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Record Count</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Class Distribution (Retained / Churned)</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Purpose</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67933184"/>
                  </a:ext>
                </a:extLst>
              </a:tr>
              <a:tr h="0">
                <a:tc>
                  <a:txBody>
                    <a:bodyPr/>
                    <a:lstStyle/>
                    <a:p>
                      <a:pPr marL="0" marR="0" rtl="0">
                        <a:spcAft>
                          <a:spcPts val="2400"/>
                        </a:spcAft>
                        <a:buNone/>
                      </a:pPr>
                      <a:r>
                        <a:rPr lang="en-US" b="1">
                          <a:solidFill>
                            <a:srgbClr val="1F1F1F"/>
                          </a:solidFill>
                          <a:effectLst/>
                          <a:latin typeface="Google Sans Text"/>
                        </a:rPr>
                        <a:t>Training Set (</a:t>
                      </a:r>
                      <a:r>
                        <a:rPr lang="en-US" sz="1125" b="0" i="0">
                          <a:solidFill>
                            <a:srgbClr val="1F1F1F"/>
                          </a:solidFill>
                          <a:effectLst/>
                          <a:latin typeface="Google Sans Text"/>
                        </a:rPr>
                        <a:t>X_train</a:t>
                      </a:r>
                      <a:r>
                        <a:rPr lang="en-US" b="1">
                          <a:solidFill>
                            <a:srgbClr val="1F1F1F"/>
                          </a:solidFill>
                          <a:effectLst/>
                          <a:latin typeface="Google Sans Text"/>
                        </a:rPr>
                        <a:t>, </a:t>
                      </a:r>
                      <a:r>
                        <a:rPr lang="en-US" sz="1125" b="0" i="0">
                          <a:solidFill>
                            <a:srgbClr val="1F1F1F"/>
                          </a:solidFill>
                          <a:effectLst/>
                          <a:latin typeface="Google Sans Text"/>
                        </a:rPr>
                        <a:t>y_train</a:t>
                      </a:r>
                      <a:r>
                        <a:rPr lang="en-US" b="1">
                          <a:solidFill>
                            <a:srgbClr val="1F1F1F"/>
                          </a:solidFill>
                          <a:effectLst/>
                          <a:latin typeface="Google Sans Text"/>
                        </a:rPr>
                        <a:t>)</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80%</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4,504</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3,745 (83.1%) / 759 (16.9%)</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Fit model parameters and feature weights</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66936624"/>
                  </a:ext>
                </a:extLst>
              </a:tr>
              <a:tr h="0">
                <a:tc>
                  <a:txBody>
                    <a:bodyPr/>
                    <a:lstStyle/>
                    <a:p>
                      <a:pPr marL="0" marR="0" rtl="0">
                        <a:spcAft>
                          <a:spcPts val="2400"/>
                        </a:spcAft>
                        <a:buNone/>
                      </a:pPr>
                      <a:r>
                        <a:rPr lang="en-US" b="1">
                          <a:solidFill>
                            <a:srgbClr val="1F1F1F"/>
                          </a:solidFill>
                          <a:effectLst/>
                          <a:latin typeface="Google Sans Text"/>
                        </a:rPr>
                        <a:t>Testing Set (</a:t>
                      </a:r>
                      <a:r>
                        <a:rPr lang="en-US" sz="1125" b="0" i="0">
                          <a:solidFill>
                            <a:srgbClr val="1F1F1F"/>
                          </a:solidFill>
                          <a:effectLst/>
                          <a:latin typeface="Google Sans Text"/>
                        </a:rPr>
                        <a:t>X_test</a:t>
                      </a:r>
                      <a:r>
                        <a:rPr lang="en-US" b="1">
                          <a:solidFill>
                            <a:srgbClr val="1F1F1F"/>
                          </a:solidFill>
                          <a:effectLst/>
                          <a:latin typeface="Google Sans Text"/>
                        </a:rPr>
                        <a:t>, </a:t>
                      </a:r>
                      <a:r>
                        <a:rPr lang="en-US" sz="1125" b="0" i="0">
                          <a:solidFill>
                            <a:srgbClr val="1F1F1F"/>
                          </a:solidFill>
                          <a:effectLst/>
                          <a:latin typeface="Google Sans Text"/>
                        </a:rPr>
                        <a:t>y_test</a:t>
                      </a:r>
                      <a:r>
                        <a:rPr lang="en-US" b="1">
                          <a:solidFill>
                            <a:srgbClr val="1F1F1F"/>
                          </a:solidFill>
                          <a:effectLst/>
                          <a:latin typeface="Google Sans Text"/>
                        </a:rPr>
                        <a:t>)</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20%</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1,126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937 (83.2%) / 189 (16.8%)</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Unseen validation for final performance</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967447018"/>
                  </a:ext>
                </a:extLst>
              </a:tr>
            </a:tbl>
          </a:graphicData>
        </a:graphic>
      </p:graphicFrame>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5490372" y="304038"/>
            <a:ext cx="2915945" cy="549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35840" y="314403"/>
            <a:ext cx="6871855" cy="523220"/>
          </a:xfrm>
          <a:prstGeom prst="rect">
            <a:avLst/>
          </a:prstGeom>
          <a:noFill/>
        </p:spPr>
        <p:txBody>
          <a:bodyPr wrap="square" lIns="91440" tIns="45720" rIns="91440" bIns="45720" rtlCol="0" anchor="t">
            <a:spAutoFit/>
          </a:bodyPr>
          <a:lstStyle/>
          <a:p>
            <a:pPr algn="ctr"/>
            <a:r>
              <a:rPr lang="en-US" sz="2800" b="1" kern="0" dirty="0">
                <a:solidFill>
                  <a:schemeClr val="bg1"/>
                </a:solidFill>
              </a:rPr>
              <a:t>Model Evaluation</a:t>
            </a:r>
            <a:endParaRPr lang="en-US" sz="2800" b="1" dirty="0">
              <a:solidFill>
                <a:schemeClr val="bg1"/>
              </a:solidFill>
            </a:endParaRPr>
          </a:p>
        </p:txBody>
      </p:sp>
      <p:pic>
        <p:nvPicPr>
          <p:cNvPr id="5" name="Picture 4">
            <a:extLst>
              <a:ext uri="{FF2B5EF4-FFF2-40B4-BE49-F238E27FC236}">
                <a16:creationId xmlns:a16="http://schemas.microsoft.com/office/drawing/2014/main" id="{229A9FF6-E58F-28B2-7B9D-9AB5F6C6574F}"/>
              </a:ext>
            </a:extLst>
          </p:cNvPr>
          <p:cNvPicPr>
            <a:picLocks noChangeAspect="1"/>
          </p:cNvPicPr>
          <p:nvPr/>
        </p:nvPicPr>
        <p:blipFill>
          <a:blip r:embed="rId2"/>
          <a:stretch>
            <a:fillRect/>
          </a:stretch>
        </p:blipFill>
        <p:spPr>
          <a:xfrm>
            <a:off x="-2325" y="845175"/>
            <a:ext cx="3052650" cy="2545650"/>
          </a:xfrm>
          <a:prstGeom prst="rect">
            <a:avLst/>
          </a:prstGeom>
        </p:spPr>
      </p:pic>
      <p:sp>
        <p:nvSpPr>
          <p:cNvPr id="4" name="TextBox 3">
            <a:extLst>
              <a:ext uri="{FF2B5EF4-FFF2-40B4-BE49-F238E27FC236}">
                <a16:creationId xmlns:a16="http://schemas.microsoft.com/office/drawing/2014/main" id="{84C95A1F-4F67-4B02-3383-509AF1E48156}"/>
              </a:ext>
            </a:extLst>
          </p:cNvPr>
          <p:cNvSpPr txBox="1"/>
          <p:nvPr/>
        </p:nvSpPr>
        <p:spPr>
          <a:xfrm>
            <a:off x="-610" y="1106135"/>
            <a:ext cx="1172705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dirty="0">
                <a:ea typeface="+mn-lt"/>
                <a:cs typeface="+mn-lt"/>
              </a:rPr>
              <a:t>Accuracy is not enough:</a:t>
            </a:r>
            <a:r>
              <a:rPr lang="en-US" sz="2000" dirty="0">
                <a:ea typeface="+mn-lt"/>
                <a:cs typeface="+mn-lt"/>
              </a:rPr>
              <a:t> 83% customers stay, so a model can get </a:t>
            </a:r>
            <a:r>
              <a:rPr lang="en-US" sz="2000" b="1" dirty="0">
                <a:ea typeface="+mn-lt"/>
                <a:cs typeface="+mn-lt"/>
              </a:rPr>
              <a:t>83% accuracy</a:t>
            </a:r>
            <a:r>
              <a:rPr lang="en-US" sz="2000" dirty="0">
                <a:ea typeface="+mn-lt"/>
                <a:cs typeface="+mn-lt"/>
              </a:rPr>
              <a:t> by predicting “Stay” for everyone — but it finds </a:t>
            </a:r>
            <a:r>
              <a:rPr lang="en-US" sz="2000" b="1" dirty="0">
                <a:ea typeface="+mn-lt"/>
                <a:cs typeface="+mn-lt"/>
              </a:rPr>
              <a:t>0 churners</a:t>
            </a:r>
            <a:r>
              <a:rPr lang="en-US" sz="2000" dirty="0">
                <a:ea typeface="+mn-lt"/>
                <a:cs typeface="+mn-lt"/>
              </a:rPr>
              <a:t>. </a:t>
            </a:r>
            <a:endParaRPr lang="en-US" sz="2000">
              <a:ea typeface="Calibri"/>
              <a:cs typeface="Calibri"/>
            </a:endParaRPr>
          </a:p>
          <a:p>
            <a:pPr marL="285750" indent="-285750">
              <a:buFont typeface="Arial"/>
              <a:buChar char="•"/>
            </a:pPr>
            <a:r>
              <a:rPr lang="en-US" sz="2000" b="1" dirty="0">
                <a:ea typeface="+mn-lt"/>
                <a:cs typeface="+mn-lt"/>
              </a:rPr>
              <a:t>Main Focus:</a:t>
            </a:r>
            <a:r>
              <a:rPr lang="en-US" sz="2000" dirty="0">
                <a:ea typeface="+mn-lt"/>
                <a:cs typeface="+mn-lt"/>
              </a:rPr>
              <a:t> We focused on </a:t>
            </a:r>
            <a:r>
              <a:rPr lang="en-US" sz="2000" b="1" dirty="0">
                <a:ea typeface="+mn-lt"/>
                <a:cs typeface="+mn-lt"/>
              </a:rPr>
              <a:t>Recall &amp; F1</a:t>
            </a:r>
            <a:r>
              <a:rPr lang="en-US" sz="2000" dirty="0">
                <a:ea typeface="+mn-lt"/>
                <a:cs typeface="+mn-lt"/>
              </a:rPr>
              <a:t> to catch more customers who may leave. </a:t>
            </a:r>
            <a:endParaRPr lang="en-US" sz="2000">
              <a:ea typeface="Calibri"/>
              <a:cs typeface="Calibri"/>
            </a:endParaRPr>
          </a:p>
          <a:p>
            <a:pPr marL="285750" indent="-285750">
              <a:buFont typeface="Arial"/>
              <a:buChar char="•"/>
            </a:pPr>
            <a:r>
              <a:rPr lang="en-US" sz="2000" b="1" dirty="0">
                <a:ea typeface="+mn-lt"/>
                <a:cs typeface="+mn-lt"/>
              </a:rPr>
              <a:t>Best Model:</a:t>
            </a:r>
            <a:r>
              <a:rPr lang="en-US" sz="2000" dirty="0">
                <a:ea typeface="+mn-lt"/>
                <a:cs typeface="+mn-lt"/>
              </a:rPr>
              <a:t> </a:t>
            </a:r>
            <a:r>
              <a:rPr lang="en-US" sz="2000" b="1" dirty="0" err="1">
                <a:ea typeface="+mn-lt"/>
                <a:cs typeface="+mn-lt"/>
              </a:rPr>
              <a:t>XGBoost</a:t>
            </a:r>
            <a:r>
              <a:rPr lang="en-US" sz="2000" dirty="0">
                <a:ea typeface="+mn-lt"/>
                <a:cs typeface="+mn-lt"/>
              </a:rPr>
              <a:t> → </a:t>
            </a:r>
            <a:r>
              <a:rPr lang="en-US" sz="2000" b="1" dirty="0">
                <a:ea typeface="+mn-lt"/>
                <a:cs typeface="+mn-lt"/>
              </a:rPr>
              <a:t>84% Recall</a:t>
            </a:r>
            <a:r>
              <a:rPr lang="en-US" sz="2000" dirty="0">
                <a:ea typeface="+mn-lt"/>
                <a:cs typeface="+mn-lt"/>
              </a:rPr>
              <a:t> and </a:t>
            </a:r>
            <a:r>
              <a:rPr lang="en-US" sz="2000" b="1" dirty="0">
                <a:ea typeface="+mn-lt"/>
                <a:cs typeface="+mn-lt"/>
              </a:rPr>
              <a:t>0.93 ROC-AUC</a:t>
            </a:r>
            <a:r>
              <a:rPr lang="en-US" sz="2000" dirty="0">
                <a:ea typeface="+mn-lt"/>
                <a:cs typeface="+mn-lt"/>
              </a:rPr>
              <a:t>. </a:t>
            </a:r>
            <a:endParaRPr lang="en-US" sz="2000">
              <a:ea typeface="Calibri"/>
              <a:cs typeface="Calibri"/>
            </a:endParaRPr>
          </a:p>
          <a:p>
            <a:pPr algn="l"/>
            <a:endParaRPr lang="en-US" sz="2000" dirty="0">
              <a:ea typeface="Calibri"/>
              <a:cs typeface="Calibri"/>
            </a:endParaRPr>
          </a:p>
        </p:txBody>
      </p:sp>
      <p:graphicFrame>
        <p:nvGraphicFramePr>
          <p:cNvPr id="7" name="Table 6">
            <a:extLst>
              <a:ext uri="{FF2B5EF4-FFF2-40B4-BE49-F238E27FC236}">
                <a16:creationId xmlns:a16="http://schemas.microsoft.com/office/drawing/2014/main" id="{96472DD8-17AE-6F2D-C1AC-307F5CE164F7}"/>
              </a:ext>
            </a:extLst>
          </p:cNvPr>
          <p:cNvGraphicFramePr>
            <a:graphicFrameLocks noGrp="1"/>
          </p:cNvGraphicFramePr>
          <p:nvPr>
            <p:extLst>
              <p:ext uri="{D42A27DB-BD31-4B8C-83A1-F6EECF244321}">
                <p14:modId xmlns:p14="http://schemas.microsoft.com/office/powerpoint/2010/main" val="2760538855"/>
              </p:ext>
            </p:extLst>
          </p:nvPr>
        </p:nvGraphicFramePr>
        <p:xfrm>
          <a:off x="0" y="2738400"/>
          <a:ext cx="12192000" cy="1981200"/>
        </p:xfrm>
        <a:graphic>
          <a:graphicData uri="http://schemas.openxmlformats.org/drawingml/2006/table">
            <a:tbl>
              <a:tblPr bandRow="1">
                <a:tableStyleId>{5C22544A-7EE6-4342-B048-85BDC9FD1C3A}</a:tableStyleId>
              </a:tblPr>
              <a:tblGrid>
                <a:gridCol w="2438400">
                  <a:extLst>
                    <a:ext uri="{9D8B030D-6E8A-4147-A177-3AD203B41FA5}">
                      <a16:colId xmlns:a16="http://schemas.microsoft.com/office/drawing/2014/main" val="1704692349"/>
                    </a:ext>
                  </a:extLst>
                </a:gridCol>
                <a:gridCol w="2438400">
                  <a:extLst>
                    <a:ext uri="{9D8B030D-6E8A-4147-A177-3AD203B41FA5}">
                      <a16:colId xmlns:a16="http://schemas.microsoft.com/office/drawing/2014/main" val="86682400"/>
                    </a:ext>
                  </a:extLst>
                </a:gridCol>
                <a:gridCol w="2438400">
                  <a:extLst>
                    <a:ext uri="{9D8B030D-6E8A-4147-A177-3AD203B41FA5}">
                      <a16:colId xmlns:a16="http://schemas.microsoft.com/office/drawing/2014/main" val="2566770707"/>
                    </a:ext>
                  </a:extLst>
                </a:gridCol>
                <a:gridCol w="2438400">
                  <a:extLst>
                    <a:ext uri="{9D8B030D-6E8A-4147-A177-3AD203B41FA5}">
                      <a16:colId xmlns:a16="http://schemas.microsoft.com/office/drawing/2014/main" val="2248297345"/>
                    </a:ext>
                  </a:extLst>
                </a:gridCol>
                <a:gridCol w="2438400">
                  <a:extLst>
                    <a:ext uri="{9D8B030D-6E8A-4147-A177-3AD203B41FA5}">
                      <a16:colId xmlns:a16="http://schemas.microsoft.com/office/drawing/2014/main" val="2519872771"/>
                    </a:ext>
                  </a:extLst>
                </a:gridCol>
              </a:tblGrid>
              <a:tr h="0">
                <a:tc>
                  <a:txBody>
                    <a:bodyPr/>
                    <a:lstStyle/>
                    <a:p>
                      <a:pPr marL="0" marR="0" rtl="0">
                        <a:spcAft>
                          <a:spcPts val="2400"/>
                        </a:spcAft>
                        <a:buNone/>
                      </a:pPr>
                      <a:r>
                        <a:rPr lang="en-US" b="1">
                          <a:solidFill>
                            <a:srgbClr val="1F1F1F"/>
                          </a:solidFill>
                          <a:effectLst/>
                          <a:latin typeface="Google Sans Text"/>
                        </a:rPr>
                        <a:t>Model</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Accuracy</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Caught Churners (Recall)</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Overall Score (F1)</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Result</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854352265"/>
                  </a:ext>
                </a:extLst>
              </a:tr>
              <a:tr h="0">
                <a:tc>
                  <a:txBody>
                    <a:bodyPr/>
                    <a:lstStyle/>
                    <a:p>
                      <a:pPr marL="0" marR="0" rtl="0">
                        <a:spcAft>
                          <a:spcPts val="2400"/>
                        </a:spcAft>
                        <a:buNone/>
                      </a:pPr>
                      <a:r>
                        <a:rPr lang="en-US" b="1">
                          <a:solidFill>
                            <a:srgbClr val="1F1F1F"/>
                          </a:solidFill>
                          <a:effectLst/>
                          <a:latin typeface="Google Sans Text"/>
                        </a:rPr>
                        <a:t>Logistic Regression</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78%</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76%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0.54</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Baseline</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78829076"/>
                  </a:ext>
                </a:extLst>
              </a:tr>
              <a:tr h="0">
                <a:tc>
                  <a:txBody>
                    <a:bodyPr/>
                    <a:lstStyle/>
                    <a:p>
                      <a:pPr marL="0" marR="0" rtl="0">
                        <a:spcAft>
                          <a:spcPts val="2400"/>
                        </a:spcAft>
                        <a:buNone/>
                      </a:pPr>
                      <a:r>
                        <a:rPr lang="en-US" b="1">
                          <a:solidFill>
                            <a:srgbClr val="1F1F1F"/>
                          </a:solidFill>
                          <a:effectLst/>
                          <a:latin typeface="Google Sans Text"/>
                        </a:rPr>
                        <a:t>Random Forest</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91%</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68%</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0.73</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a:solidFill>
                            <a:srgbClr val="1F1F1F"/>
                          </a:solidFill>
                          <a:effectLst/>
                          <a:latin typeface="Google Sans Text"/>
                        </a:rPr>
                        <a:t>Good</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82784492"/>
                  </a:ext>
                </a:extLst>
              </a:tr>
              <a:tr h="0">
                <a:tc>
                  <a:txBody>
                    <a:bodyPr/>
                    <a:lstStyle/>
                    <a:p>
                      <a:pPr marL="0" marR="0" rtl="0">
                        <a:spcAft>
                          <a:spcPts val="2400"/>
                        </a:spcAft>
                        <a:buNone/>
                      </a:pPr>
                      <a:r>
                        <a:rPr lang="en-US" b="1">
                          <a:solidFill>
                            <a:srgbClr val="1F1F1F"/>
                          </a:solidFill>
                          <a:effectLst/>
                          <a:latin typeface="Google Sans Text"/>
                        </a:rPr>
                        <a:t>XGBoost</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94%</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84%</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0.79</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a:solidFill>
                            <a:srgbClr val="1F1F1F"/>
                          </a:solidFill>
                          <a:effectLst/>
                          <a:latin typeface="Google Sans Text"/>
                        </a:rPr>
                        <a:t>Winner (Best Model)</a:t>
                      </a:r>
                      <a:endParaRPr 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683953561"/>
                  </a:ext>
                </a:extLst>
              </a:tr>
            </a:tbl>
          </a:graphicData>
        </a:graphic>
      </p:graphicFrame>
      <p:sp>
        <p:nvSpPr>
          <p:cNvPr id="8" name="TextBox 7">
            <a:extLst>
              <a:ext uri="{FF2B5EF4-FFF2-40B4-BE49-F238E27FC236}">
                <a16:creationId xmlns:a16="http://schemas.microsoft.com/office/drawing/2014/main" id="{E0945AA3-0BB8-DEE0-E7AD-B5C30CA6700F}"/>
              </a:ext>
            </a:extLst>
          </p:cNvPr>
          <p:cNvSpPr txBox="1"/>
          <p:nvPr/>
        </p:nvSpPr>
        <p:spPr>
          <a:xfrm>
            <a:off x="7579016" y="5012136"/>
            <a:ext cx="448159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Recall = How many of the actual churners did our model successfully catch?</a:t>
            </a:r>
            <a:br>
              <a:rPr lang="en-US" dirty="0">
                <a:ea typeface="+mn-lt"/>
                <a:cs typeface="+mn-lt"/>
              </a:rPr>
            </a:br>
            <a:r>
              <a:rPr lang="en-US" dirty="0">
                <a:ea typeface="+mn-lt"/>
                <a:cs typeface="+mn-lt"/>
              </a:rPr>
              <a:t>ROC-AUC = How well the model separates “Churn” customers from “Stay” customers.</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BE57C2C-120A-7A94-5EFC-30E4E6E4D214}"/>
              </a:ext>
            </a:extLst>
          </p:cNvPr>
          <p:cNvPicPr>
            <a:picLocks noChangeAspect="1"/>
          </p:cNvPicPr>
          <p:nvPr/>
        </p:nvPicPr>
        <p:blipFill>
          <a:blip r:embed="rId2"/>
          <a:stretch>
            <a:fillRect/>
          </a:stretch>
        </p:blipFill>
        <p:spPr>
          <a:xfrm>
            <a:off x="-2325" y="845175"/>
            <a:ext cx="3052650" cy="2545650"/>
          </a:xfrm>
          <a:prstGeom prst="rect">
            <a:avLst/>
          </a:prstGeom>
        </p:spPr>
      </p:pic>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98F3DF2D-5C39-92C4-5DC7-0CEF5E8E7C14}"/>
              </a:ext>
            </a:extLst>
          </p:cNvPr>
          <p:cNvSpPr txBox="1"/>
          <p:nvPr/>
        </p:nvSpPr>
        <p:spPr>
          <a:xfrm>
            <a:off x="845897" y="1202136"/>
            <a:ext cx="10496949"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ea typeface="+mn-lt"/>
                <a:cs typeface="+mn-lt"/>
              </a:rPr>
              <a:t>In this project, we built a machine learning system to predict which e-commerce customers are likely to leave the platform. Using a dataset of over 5,600 shoppers, our best model, </a:t>
            </a:r>
            <a:r>
              <a:rPr lang="en-US" sz="2200" b="1" dirty="0" err="1">
                <a:ea typeface="+mn-lt"/>
                <a:cs typeface="+mn-lt"/>
              </a:rPr>
              <a:t>XGBoost</a:t>
            </a:r>
            <a:r>
              <a:rPr lang="en-US" sz="2200" b="1" dirty="0">
                <a:ea typeface="+mn-lt"/>
                <a:cs typeface="+mn-lt"/>
              </a:rPr>
              <a:t>, successfully caught 84% of churned customers before they left. We discovered that brand-new customers in their first two months and those who filed complaints are at the highest risk of leaving. By deploying this model into a simple web app, marketing teams can now spot unhappy shoppers early and offer them quick discounts or extra support, saving the business money that would otherwise be spent trying to win back lost customers.</a:t>
            </a:r>
            <a:endParaRPr lang="en-US" sz="2200" b="1" dirty="0">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gd name="adj" fmla="val 700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lIns="91440" tIns="45720" rIns="91440" bIns="45720" rtlCol="0" anchor="t">
            <a:spAutoFit/>
          </a:bodyPr>
          <a:lstStyle/>
          <a:p>
            <a:pPr algn="ctr"/>
            <a:r>
              <a:rPr lang="en-US" sz="3200" b="1" dirty="0">
                <a:solidFill>
                  <a:schemeClr val="bg1"/>
                </a:solidFill>
              </a:rPr>
              <a:t>Data at a Glance</a:t>
            </a:r>
          </a:p>
        </p:txBody>
      </p:sp>
      <p:pic>
        <p:nvPicPr>
          <p:cNvPr id="10" name="Donut: 17% of customers left" descr="Donut: 17% of customers left"/>
          <p:cNvPicPr>
            <a:picLocks noChangeAspect="1"/>
          </p:cNvPicPr>
          <p:nvPr/>
        </p:nvPicPr>
        <p:blipFill>
          <a:blip r:embed="rId2"/>
          <a:stretch>
            <a:fillRect/>
          </a:stretch>
        </p:blipFill>
        <p:spPr>
          <a:xfrm>
            <a:off x="1000000" y="1900000"/>
            <a:ext cx="3300000" cy="3300000"/>
          </a:xfrm>
          <a:prstGeom prst="rect">
            <a:avLst/>
          </a:prstGeom>
        </p:spPr>
      </p:pic>
      <p:sp>
        <p:nvSpPr>
          <p:cNvPr id="11" name="Donut caption"/>
          <p:cNvSpPr txBox="1"/>
          <p:nvPr/>
        </p:nvSpPr>
        <p:spPr>
          <a:xfrm>
            <a:off x="700000" y="5300000"/>
            <a:ext cx="4200000" cy="500000"/>
          </a:xfrm>
          <a:prstGeom prst="rect">
            <a:avLst/>
          </a:prstGeom>
          <a:noFill/>
        </p:spPr>
        <p:txBody>
          <a:bodyPr wrap="square" lIns="137160" tIns="91440" rIns="137160" bIns="91440" rtlCol="0" anchor="t">
            <a:noAutofit/>
          </a:bodyPr>
          <a:lstStyle/>
          <a:p>
            <a:pPr algn="ctr">
              <a:spcAft>
                <a:spcPts val="0"/>
              </a:spcAft>
            </a:pPr>
            <a:r>
              <a:rPr lang="en-US" sz="1800" b="0" dirty="0"/>
              <a:t>of customers left the platform</a:t>
            </a:r>
          </a:p>
        </p:txBody>
      </p:sp>
      <p:sp>
        <p:nvSpPr>
          <p:cNvPr id="20" name="Fact 1"/>
          <p:cNvSpPr txBox="1"/>
          <p:nvPr/>
        </p:nvSpPr>
        <p:spPr>
          <a:xfrm>
            <a:off x="5500000" y="1350000"/>
            <a:ext cx="6200000" cy="1300000"/>
          </a:xfrm>
          <a:prstGeom prst="roundRect">
            <a:avLst>
              <a:gd name="adj" fmla="val 7000"/>
            </a:avLst>
          </a:prstGeom>
          <a:solidFill>
            <a:srgbClr val="F2F2F2"/>
          </a:solidFill>
        </p:spPr>
        <p:txBody>
          <a:bodyPr wrap="square" lIns="137160" tIns="91440" rIns="137160" bIns="91440" rtlCol="0" anchor="ctr">
            <a:noAutofit/>
          </a:bodyPr>
          <a:lstStyle/>
          <a:p>
            <a:pPr algn="l">
              <a:spcAft>
                <a:spcPts val="0"/>
              </a:spcAft>
            </a:pPr>
            <a:r>
              <a:rPr lang="en-US" sz="3600" b="1" dirty="0">
                <a:solidFill>
                  <a:srgbClr val="C00000"/>
                </a:solidFill>
              </a:rPr>
              <a:t>5,630</a:t>
            </a:r>
          </a:p>
          <a:p>
            <a:pPr algn="l">
              <a:spcAft>
                <a:spcPts val="0"/>
              </a:spcAft>
            </a:pPr>
            <a:r>
              <a:rPr lang="en-US" sz="2000" b="0" dirty="0"/>
              <a:t>customers in the dataset</a:t>
            </a:r>
          </a:p>
        </p:txBody>
      </p:sp>
      <p:sp>
        <p:nvSpPr>
          <p:cNvPr id="21" name="Fact 2"/>
          <p:cNvSpPr txBox="1"/>
          <p:nvPr/>
        </p:nvSpPr>
        <p:spPr>
          <a:xfrm>
            <a:off x="5500000" y="2850000"/>
            <a:ext cx="6200000" cy="1300000"/>
          </a:xfrm>
          <a:prstGeom prst="roundRect">
            <a:avLst>
              <a:gd name="adj" fmla="val 7000"/>
            </a:avLst>
          </a:prstGeom>
          <a:solidFill>
            <a:srgbClr val="F2F2F2"/>
          </a:solidFill>
        </p:spPr>
        <p:txBody>
          <a:bodyPr wrap="square" lIns="137160" tIns="91440" rIns="137160" bIns="91440" rtlCol="0" anchor="ctr">
            <a:noAutofit/>
          </a:bodyPr>
          <a:lstStyle/>
          <a:p>
            <a:pPr algn="l">
              <a:spcAft>
                <a:spcPts val="0"/>
              </a:spcAft>
            </a:pPr>
            <a:r>
              <a:rPr lang="en-US" sz="3600" b="1" dirty="0">
                <a:solidFill>
                  <a:srgbClr val="C00000"/>
                </a:solidFill>
              </a:rPr>
              <a:t>1 in 6</a:t>
            </a:r>
          </a:p>
          <a:p>
            <a:pPr algn="l">
              <a:spcAft>
                <a:spcPts val="0"/>
              </a:spcAft>
            </a:pPr>
            <a:r>
              <a:rPr lang="en-US" sz="2000" b="0" dirty="0"/>
              <a:t>customers stopped buying (churned)</a:t>
            </a:r>
          </a:p>
        </p:txBody>
      </p:sp>
      <p:sp>
        <p:nvSpPr>
          <p:cNvPr id="22" name="Fact 3"/>
          <p:cNvSpPr txBox="1"/>
          <p:nvPr/>
        </p:nvSpPr>
        <p:spPr>
          <a:xfrm>
            <a:off x="5500000" y="4350000"/>
            <a:ext cx="6200000" cy="1300000"/>
          </a:xfrm>
          <a:prstGeom prst="roundRect">
            <a:avLst>
              <a:gd name="adj" fmla="val 7000"/>
            </a:avLst>
          </a:prstGeom>
          <a:solidFill>
            <a:srgbClr val="F2F2F2"/>
          </a:solidFill>
        </p:spPr>
        <p:txBody>
          <a:bodyPr wrap="square" lIns="137160" tIns="91440" rIns="137160" bIns="91440" rtlCol="0" anchor="ctr">
            <a:noAutofit/>
          </a:bodyPr>
          <a:lstStyle/>
          <a:p>
            <a:pPr algn="l">
              <a:spcAft>
                <a:spcPts val="0"/>
              </a:spcAft>
            </a:pPr>
            <a:r>
              <a:rPr lang="en-US" sz="3600" b="1" dirty="0">
                <a:solidFill>
                  <a:srgbClr val="C00000"/>
                </a:solidFill>
              </a:rPr>
              <a:t>Very few</a:t>
            </a:r>
          </a:p>
          <a:p>
            <a:pPr algn="l">
              <a:spcAft>
                <a:spcPts val="0"/>
              </a:spcAft>
            </a:pPr>
            <a:r>
              <a:rPr lang="en-US" sz="2000" b="0" dirty="0"/>
              <a:t>missing values (under 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gd name="adj" fmla="val 700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lIns="91440" tIns="45720" rIns="91440" bIns="45720" rtlCol="0" anchor="t">
            <a:spAutoFit/>
          </a:bodyPr>
          <a:lstStyle/>
          <a:p>
            <a:pPr algn="ctr"/>
            <a:r>
              <a:rPr lang="en-US" sz="3200" b="1" dirty="0">
                <a:solidFill>
                  <a:schemeClr val="bg1"/>
                </a:solidFill>
              </a:rPr>
              <a:t>Who Leaves the Most?</a:t>
            </a:r>
          </a:p>
        </p:txBody>
      </p:sp>
      <p:sp>
        <p:nvSpPr>
          <p:cNvPr id="30" name="Card 1"/>
          <p:cNvSpPr txBox="1"/>
          <p:nvPr/>
        </p:nvSpPr>
        <p:spPr>
          <a:xfrm>
            <a:off x="296000" y="1050000"/>
            <a:ext cx="3700000" cy="4000000"/>
          </a:xfrm>
          <a:prstGeom prst="roundRect">
            <a:avLst>
              <a:gd name="adj" fmla="val 7000"/>
            </a:avLst>
          </a:prstGeom>
          <a:solidFill>
            <a:srgbClr val="F2F2F2"/>
          </a:solidFill>
        </p:spPr>
        <p:txBody>
          <a:bodyPr wrap="square" lIns="137160" tIns="91440" rIns="137160" bIns="91440" rtlCol="0" anchor="t">
            <a:noAutofit/>
          </a:bodyPr>
          <a:lstStyle/>
          <a:p>
            <a:pPr algn="ctr">
              <a:spcAft>
                <a:spcPts val="0"/>
              </a:spcAft>
            </a:pPr>
            <a:r>
              <a:rPr lang="en-US" sz="2200" b="1" dirty="0">
                <a:solidFill>
                  <a:srgbClr val="C00000"/>
                </a:solidFill>
              </a:rPr>
              <a:t>Complaints</a:t>
            </a:r>
          </a:p>
        </p:txBody>
      </p:sp>
      <p:pic>
        <p:nvPicPr>
          <p:cNvPr id="10" name="Chart: Complaints" descr="Chart: Complaints"/>
          <p:cNvPicPr>
            <a:picLocks noChangeAspect="1"/>
          </p:cNvPicPr>
          <p:nvPr/>
        </p:nvPicPr>
        <p:blipFill>
          <a:blip r:embed="rId2"/>
          <a:stretch>
            <a:fillRect/>
          </a:stretch>
        </p:blipFill>
        <p:spPr>
          <a:xfrm>
            <a:off x="1030328" y="1800000"/>
            <a:ext cx="2231343" cy="2500000"/>
          </a:xfrm>
          <a:prstGeom prst="rect">
            <a:avLst/>
          </a:prstGeom>
        </p:spPr>
      </p:pic>
      <p:sp>
        <p:nvSpPr>
          <p:cNvPr id="40" name="Caption 1"/>
          <p:cNvSpPr txBox="1"/>
          <p:nvPr/>
        </p:nvSpPr>
        <p:spPr>
          <a:xfrm>
            <a:off x="296000" y="4400000"/>
            <a:ext cx="3700000" cy="650000"/>
          </a:xfrm>
          <a:prstGeom prst="rect">
            <a:avLst/>
          </a:prstGeom>
          <a:noFill/>
        </p:spPr>
        <p:txBody>
          <a:bodyPr wrap="square" lIns="137160" tIns="91440" rIns="137160" bIns="91440" rtlCol="0" anchor="t">
            <a:noAutofit/>
          </a:bodyPr>
          <a:lstStyle/>
          <a:p>
            <a:pPr algn="ctr">
              <a:spcAft>
                <a:spcPts val="0"/>
              </a:spcAft>
            </a:pPr>
            <a:r>
              <a:rPr lang="en-US" sz="1600" b="0" dirty="0"/>
              <a:t>Customers who complain are 3x more likely to leave</a:t>
            </a:r>
          </a:p>
        </p:txBody>
      </p:sp>
      <p:sp>
        <p:nvSpPr>
          <p:cNvPr id="31" name="Card 2"/>
          <p:cNvSpPr txBox="1"/>
          <p:nvPr/>
        </p:nvSpPr>
        <p:spPr>
          <a:xfrm>
            <a:off x="4246000" y="1050000"/>
            <a:ext cx="3700000" cy="4000000"/>
          </a:xfrm>
          <a:prstGeom prst="roundRect">
            <a:avLst>
              <a:gd name="adj" fmla="val 7000"/>
            </a:avLst>
          </a:prstGeom>
          <a:solidFill>
            <a:srgbClr val="F2F2F2"/>
          </a:solidFill>
        </p:spPr>
        <p:txBody>
          <a:bodyPr wrap="square" lIns="137160" tIns="91440" rIns="137160" bIns="91440" rtlCol="0" anchor="t">
            <a:noAutofit/>
          </a:bodyPr>
          <a:lstStyle/>
          <a:p>
            <a:pPr algn="ctr">
              <a:spcAft>
                <a:spcPts val="0"/>
              </a:spcAft>
            </a:pPr>
            <a:r>
              <a:rPr lang="en-US" sz="2200" b="1" dirty="0">
                <a:solidFill>
                  <a:srgbClr val="C00000"/>
                </a:solidFill>
              </a:rPr>
              <a:t>New customers</a:t>
            </a:r>
          </a:p>
        </p:txBody>
      </p:sp>
      <p:pic>
        <p:nvPicPr>
          <p:cNvPr id="11" name="Chart: New customers" descr="Chart: New customers"/>
          <p:cNvPicPr>
            <a:picLocks noChangeAspect="1"/>
          </p:cNvPicPr>
          <p:nvPr/>
        </p:nvPicPr>
        <p:blipFill>
          <a:blip r:embed="rId3"/>
          <a:stretch>
            <a:fillRect/>
          </a:stretch>
        </p:blipFill>
        <p:spPr>
          <a:xfrm>
            <a:off x="4980328" y="1800000"/>
            <a:ext cx="2231343" cy="2500000"/>
          </a:xfrm>
          <a:prstGeom prst="rect">
            <a:avLst/>
          </a:prstGeom>
        </p:spPr>
      </p:pic>
      <p:sp>
        <p:nvSpPr>
          <p:cNvPr id="41" name="Caption 2"/>
          <p:cNvSpPr txBox="1"/>
          <p:nvPr/>
        </p:nvSpPr>
        <p:spPr>
          <a:xfrm>
            <a:off x="4246000" y="4400000"/>
            <a:ext cx="3700000" cy="650000"/>
          </a:xfrm>
          <a:prstGeom prst="rect">
            <a:avLst/>
          </a:prstGeom>
          <a:noFill/>
        </p:spPr>
        <p:txBody>
          <a:bodyPr wrap="square" lIns="137160" tIns="91440" rIns="137160" bIns="91440" rtlCol="0" anchor="t">
            <a:noAutofit/>
          </a:bodyPr>
          <a:lstStyle/>
          <a:p>
            <a:pPr algn="ctr">
              <a:spcAft>
                <a:spcPts val="0"/>
              </a:spcAft>
            </a:pPr>
            <a:r>
              <a:rPr lang="en-US" sz="1600" b="0" dirty="0"/>
              <a:t>Nearly half leave in their first 2 months</a:t>
            </a:r>
          </a:p>
        </p:txBody>
      </p:sp>
      <p:sp>
        <p:nvSpPr>
          <p:cNvPr id="32" name="Card 3"/>
          <p:cNvSpPr txBox="1"/>
          <p:nvPr/>
        </p:nvSpPr>
        <p:spPr>
          <a:xfrm>
            <a:off x="8196000" y="1050000"/>
            <a:ext cx="3700000" cy="4000000"/>
          </a:xfrm>
          <a:prstGeom prst="roundRect">
            <a:avLst>
              <a:gd name="adj" fmla="val 7000"/>
            </a:avLst>
          </a:prstGeom>
          <a:solidFill>
            <a:srgbClr val="F2F2F2"/>
          </a:solidFill>
        </p:spPr>
        <p:txBody>
          <a:bodyPr wrap="square" lIns="137160" tIns="91440" rIns="137160" bIns="91440" rtlCol="0" anchor="t">
            <a:noAutofit/>
          </a:bodyPr>
          <a:lstStyle/>
          <a:p>
            <a:pPr algn="ctr">
              <a:spcAft>
                <a:spcPts val="0"/>
              </a:spcAft>
            </a:pPr>
            <a:r>
              <a:rPr lang="en-US" sz="2200" b="1" dirty="0">
                <a:solidFill>
                  <a:srgbClr val="C00000"/>
                </a:solidFill>
              </a:rPr>
              <a:t>Marital status</a:t>
            </a:r>
          </a:p>
        </p:txBody>
      </p:sp>
      <p:pic>
        <p:nvPicPr>
          <p:cNvPr id="12" name="Chart: Marital status" descr="Chart: Marital status"/>
          <p:cNvPicPr>
            <a:picLocks noChangeAspect="1"/>
          </p:cNvPicPr>
          <p:nvPr/>
        </p:nvPicPr>
        <p:blipFill>
          <a:blip r:embed="rId4"/>
          <a:stretch>
            <a:fillRect/>
          </a:stretch>
        </p:blipFill>
        <p:spPr>
          <a:xfrm>
            <a:off x="8842296" y="1800000"/>
            <a:ext cx="2407407" cy="2500000"/>
          </a:xfrm>
          <a:prstGeom prst="rect">
            <a:avLst/>
          </a:prstGeom>
        </p:spPr>
      </p:pic>
      <p:sp>
        <p:nvSpPr>
          <p:cNvPr id="42" name="Caption 3"/>
          <p:cNvSpPr txBox="1"/>
          <p:nvPr/>
        </p:nvSpPr>
        <p:spPr>
          <a:xfrm>
            <a:off x="8196000" y="4400000"/>
            <a:ext cx="3700000" cy="650000"/>
          </a:xfrm>
          <a:prstGeom prst="rect">
            <a:avLst/>
          </a:prstGeom>
          <a:noFill/>
        </p:spPr>
        <p:txBody>
          <a:bodyPr wrap="square" lIns="137160" tIns="91440" rIns="137160" bIns="91440" rtlCol="0" anchor="t">
            <a:noAutofit/>
          </a:bodyPr>
          <a:lstStyle/>
          <a:p>
            <a:pPr algn="ctr">
              <a:spcAft>
                <a:spcPts val="0"/>
              </a:spcAft>
            </a:pPr>
            <a:r>
              <a:rPr lang="en-US" sz="1600" b="0" dirty="0"/>
              <a:t>Single customers leave more than married ones</a:t>
            </a:r>
          </a:p>
        </p:txBody>
      </p:sp>
      <p:sp>
        <p:nvSpPr>
          <p:cNvPr id="50" name="Takeaway"/>
          <p:cNvSpPr txBox="1"/>
          <p:nvPr/>
        </p:nvSpPr>
        <p:spPr>
          <a:xfrm>
            <a:off x="296000" y="5300000"/>
            <a:ext cx="11600000" cy="700000"/>
          </a:xfrm>
          <a:prstGeom prst="rect">
            <a:avLst/>
          </a:prstGeom>
          <a:noFill/>
        </p:spPr>
        <p:txBody>
          <a:bodyPr wrap="square" lIns="137160" tIns="91440" rIns="137160" bIns="91440" rtlCol="0" anchor="ctr">
            <a:noAutofit/>
          </a:bodyPr>
          <a:lstStyle/>
          <a:p>
            <a:pPr algn="ctr">
              <a:spcAft>
                <a:spcPts val="0"/>
              </a:spcAft>
            </a:pPr>
            <a:r>
              <a:rPr lang="en-US" sz="2000" b="1" dirty="0">
                <a:solidFill>
                  <a:srgbClr val="C00000"/>
                </a:solidFill>
              </a:rPr>
              <a:t>In short: </a:t>
            </a:r>
            <a:r>
              <a:rPr lang="en-US" sz="2000" b="1" dirty="0"/>
              <a:t>new and unhappy customers are the ones most likely to leave.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Machine Learning (25SC2107E)  E-Commerce Customer Churn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Madhavi Sanikommu</cp:lastModifiedBy>
  <cp:revision>244</cp:revision>
  <dcterms:created xsi:type="dcterms:W3CDTF">2024-08-29T05:25:00Z</dcterms:created>
  <dcterms:modified xsi:type="dcterms:W3CDTF">2026-09-21T03:07:01Z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